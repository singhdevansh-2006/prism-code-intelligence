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af5f738cfd94fe3" /><Relationship Type="http://schemas.openxmlformats.org/officeDocument/2006/relationships/extended-properties" Target="/docProps/app.xml" Id="R78fdd71e6be6418c" /><Relationship Type="http://schemas.openxmlformats.org/officeDocument/2006/relationships/officeDocument" Target="/ppt/presentation.xml" Id="Rf369d952f6b4432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e190352c49b4686"/>
  </p:sldMasterIdLst>
  <p:notesMasterIdLst>
    <p:notesMasterId xmlns:r="http://schemas.openxmlformats.org/officeDocument/2006/relationships" r:id="Rcae7648eef2e4588"/>
  </p:notesMasterIdLst>
  <p:sldIdLst>
    <p:sldId xmlns:r="http://schemas.openxmlformats.org/officeDocument/2006/relationships" id="256" r:id="Ra90475ce9b4c4ef3"/>
    <p:sldId xmlns:r="http://schemas.openxmlformats.org/officeDocument/2006/relationships" id="257" r:id="R2a158c7500744a6e"/>
    <p:sldId xmlns:r="http://schemas.openxmlformats.org/officeDocument/2006/relationships" id="258" r:id="R3673c8b97dbf4870"/>
    <p:sldId xmlns:r="http://schemas.openxmlformats.org/officeDocument/2006/relationships" id="259" r:id="R69a9ccc02ac04337"/>
    <p:sldId xmlns:r="http://schemas.openxmlformats.org/officeDocument/2006/relationships" id="260" r:id="Rdd68b4c930f14481"/>
    <p:sldId xmlns:r="http://schemas.openxmlformats.org/officeDocument/2006/relationships" id="261" r:id="R5dfae220155e4da6"/>
    <p:sldId xmlns:r="http://schemas.openxmlformats.org/officeDocument/2006/relationships" id="262" r:id="R50f45ef7c7064665"/>
    <p:sldId xmlns:r="http://schemas.openxmlformats.org/officeDocument/2006/relationships" id="263" r:id="R8c31251628da4316"/>
    <p:sldId xmlns:r="http://schemas.openxmlformats.org/officeDocument/2006/relationships" id="264" r:id="Rc929aaa0c031445b"/>
    <p:sldId xmlns:r="http://schemas.openxmlformats.org/officeDocument/2006/relationships" id="265" r:id="R08608fc5df6c4ad3"/>
    <p:sldId xmlns:r="http://schemas.openxmlformats.org/officeDocument/2006/relationships" id="266" r:id="Ra60d909dd36c40b7"/>
    <p:sldId xmlns:r="http://schemas.openxmlformats.org/officeDocument/2006/relationships" id="267" r:id="Rf647e1018d4b433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a2a2e0509854fb2" /><Relationship Type="http://schemas.openxmlformats.org/officeDocument/2006/relationships/slideMaster" Target="/ppt/slideMasters/slideMaster1.xml" Id="R0e190352c49b4686" /><Relationship Type="http://schemas.openxmlformats.org/officeDocument/2006/relationships/notesMaster" Target="/ppt/notesMasters/notesMaster1.xml" Id="Rcae7648eef2e4588" /><Relationship Type="http://schemas.openxmlformats.org/officeDocument/2006/relationships/presProps" Target="/ppt/presProps.xml" Id="Rdfc02977209b4063" /><Relationship Type="http://schemas.openxmlformats.org/officeDocument/2006/relationships/tableStyles" Target="/ppt/tableStyles.xml" Id="Re80a194d523f4983" /><Relationship Type="http://schemas.openxmlformats.org/officeDocument/2006/relationships/slide" Target="/ppt/slides/slide1.xml" Id="Ra90475ce9b4c4ef3" /><Relationship Type="http://schemas.openxmlformats.org/officeDocument/2006/relationships/slide" Target="/ppt/slides/slide2.xml" Id="R2a158c7500744a6e" /><Relationship Type="http://schemas.openxmlformats.org/officeDocument/2006/relationships/slide" Target="/ppt/slides/slide3.xml" Id="R3673c8b97dbf4870" /><Relationship Type="http://schemas.openxmlformats.org/officeDocument/2006/relationships/slide" Target="/ppt/slides/slide4.xml" Id="R69a9ccc02ac04337" /><Relationship Type="http://schemas.openxmlformats.org/officeDocument/2006/relationships/slide" Target="/ppt/slides/slide5.xml" Id="Rdd68b4c930f14481" /><Relationship Type="http://schemas.openxmlformats.org/officeDocument/2006/relationships/slide" Target="/ppt/slides/slide6.xml" Id="R5dfae220155e4da6" /><Relationship Type="http://schemas.openxmlformats.org/officeDocument/2006/relationships/slide" Target="/ppt/slides/slide7.xml" Id="R50f45ef7c7064665" /><Relationship Type="http://schemas.openxmlformats.org/officeDocument/2006/relationships/slide" Target="/ppt/slides/slide8.xml" Id="R8c31251628da4316" /><Relationship Type="http://schemas.openxmlformats.org/officeDocument/2006/relationships/slide" Target="/ppt/slides/slide9.xml" Id="Rc929aaa0c031445b" /><Relationship Type="http://schemas.openxmlformats.org/officeDocument/2006/relationships/slide" Target="/ppt/slides/slide10.xml" Id="R08608fc5df6c4ad3" /><Relationship Type="http://schemas.openxmlformats.org/officeDocument/2006/relationships/slide" Target="/ppt/slides/slide11.xml" Id="Ra60d909dd36c40b7" /><Relationship Type="http://schemas.openxmlformats.org/officeDocument/2006/relationships/slide" Target="/ppt/slides/slide12.xml" Id="Rf647e1018d4b433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7e9631f062647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347f8ea413d458b" /><Relationship Type="http://schemas.openxmlformats.org/officeDocument/2006/relationships/notesMaster" Target="/ppt/notesMasters/notesMaster1.xml" Id="Rb76e0d102c33407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540c3ae96104370" /><Relationship Type="http://schemas.openxmlformats.org/officeDocument/2006/relationships/notesMaster" Target="/ppt/notesMasters/notesMaster1.xml" Id="R192631a4f7eb424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3752cfddb2c4779" /><Relationship Type="http://schemas.openxmlformats.org/officeDocument/2006/relationships/notesMaster" Target="/ppt/notesMasters/notesMaster1.xml" Id="R47ead4eaf0ac450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5bbd2046b5e456f" /><Relationship Type="http://schemas.openxmlformats.org/officeDocument/2006/relationships/notesMaster" Target="/ppt/notesMasters/notesMaster1.xml" Id="Rf13199b2391a483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ded0dd434f249fd" /><Relationship Type="http://schemas.openxmlformats.org/officeDocument/2006/relationships/notesMaster" Target="/ppt/notesMasters/notesMaster1.xml" Id="Rcb41e6f7cd0c4a6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0190c5c62ad4028" /><Relationship Type="http://schemas.openxmlformats.org/officeDocument/2006/relationships/notesMaster" Target="/ppt/notesMasters/notesMaster1.xml" Id="R513cb1274230405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abdf3bc4eae4a73" /><Relationship Type="http://schemas.openxmlformats.org/officeDocument/2006/relationships/notesMaster" Target="/ppt/notesMasters/notesMaster1.xml" Id="R662bcd41d0fb488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18a8b5bad914a1a" /><Relationship Type="http://schemas.openxmlformats.org/officeDocument/2006/relationships/notesMaster" Target="/ppt/notesMasters/notesMaster1.xml" Id="R9d4e4a99a1ff428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382969ab4784f45" /><Relationship Type="http://schemas.openxmlformats.org/officeDocument/2006/relationships/notesMaster" Target="/ppt/notesMasters/notesMaster1.xml" Id="R9ffa03bf6a28409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4aa5b72547b4bb7" /><Relationship Type="http://schemas.openxmlformats.org/officeDocument/2006/relationships/notesMaster" Target="/ppt/notesMasters/notesMaster1.xml" Id="R0012717d307340b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49bfa8042674d62" /><Relationship Type="http://schemas.openxmlformats.org/officeDocument/2006/relationships/notesMaster" Target="/ppt/notesMasters/notesMaster1.xml" Id="Rf60af82b6d21454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067ed1e471e464b" /><Relationship Type="http://schemas.openxmlformats.org/officeDocument/2006/relationships/notesMaster" Target="/ppt/notesMasters/notesMaster1.xml" Id="Rd9905f453350452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Team name formatted per final form: CollegeName_Teamname_ThemeNo. Team lead selected Team Ctrl Alt Elite; original registration spelling has not been independently confirmed. Members and emails supplied by the team lead.</a:t>
            </a:r>
          </a:p>
          <a:p xmlns:a="http://schemas.openxmlformats.org/drawingml/2006/main">
            <a:r>
              <a:t>Sources: https://github.com/SinghDevansh-2006/prism-code-intelligence/tree/030e29f6133f0ff0ea138243891c886fcff5a039; user-provided final submission form and team confirmations, 30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Main problem: efficient relevant retrieval by behavior, usage, structure and versions. Precomputed embeddings avoid re-encoding the corpus per query. No measured developer-productivity gain claimed.</a:t>
            </a:r>
          </a:p>
          <a:p xmlns:a="http://schemas.openxmlformats.org/drawingml/2006/main">
            <a:r>
              <a:t>Sources: https://github.com/SinghDevansh-2006/prism-code-intelligence/tree/030e29f6133f0ff0ea138243891c886fcff5a039; user-provided final submission form and team confirmations, 30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Revised third row to avoid assigning missing version context to history tools. These are conceptual differences, not empirical competitor results.</a:t>
            </a:r>
          </a:p>
          <a:p xmlns:a="http://schemas.openxmlformats.org/drawingml/2006/main">
            <a:r>
              <a:t>Sources: https://github.com/SinghDevansh-2006/prism-code-intelligence/tree/030e29f6133f0ff0ea138243891c886fcff5a039; user-provided final submission form and team confirmations, 30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Local sources: README.md; docs/review/windows-recheck.json; docs/review/mteb-uniform-result.json; docs/windows-review.md. Verified candidate SHA256 cb77efdbc0230b0342b6285770b687a5af856170776940559a0f079f9a002b72. Publication authorized on 4 October 2026; the release tag identifies the final package.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Local sources: README.md; docs/review/windows-recheck.json; docs/review/mteb-uniform-result.json; docs/windows-review.md. Verified candidate SHA256 cb77efdbc0230b0342b6285770b687a5af856170776940559a0f079f9a002b72. Publication authorized on 4 October 2026; the release tag identifies the final package. Final video URL supplied by the team; duration confirmed as 4 minutes 49 seconds. Screenshot shows the current local build.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Local sources: README.md; docs/review/windows-recheck.json; docs/review/mteb-uniform-result.json; docs/windows-review.md. Verified candidate SHA256 cb77efdbc0230b0342b6285770b687a5af856170776940559a0f079f9a002b72. Publication authorized on 4 October 2026; the release tag identifies the final package.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Local sources: README.md; docs/review/windows-recheck.json; docs/review/mteb-uniform-result.json; docs/windows-review.md. Verified candidate SHA256 cb77efdbc0230b0342b6285770b687a5af856170776940559a0f079f9a002b72. Publication authorized on 4 October 2026; the release tag identifies the final package.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Local sources: README.md; docs/review/windows-recheck.json; docs/review/mteb-uniform-result.json; docs/windows-review.md. Verified candidate SHA256 cb77efdbc0230b0342b6285770b687a5af856170776940559a0f079f9a002b72. Publication authorized on 4 October 2026; the release tag identifies the final package. Frozen submission scores retained. Separate corrected CPU evaluation: NDCG@10 0.853220; MRR@10 0.8220444149328615; MRR@100 0.8243958749403522; Recall@10 0.94927 versus frozen 0.94953519. Small numerical changes are not a new algorithmic improvement. Dense retrieval only; private validation remains separate.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Local sources: README.md; docs/review/windows-recheck.json; docs/review/mteb-uniform-result.json; docs/windows-review.md. Verified candidate SHA256 cb77efdbc0230b0342b6285770b687a5af856170776940559a0f079f9a002b72. Publication authorized on 4 October 2026; the release tag identifies the final package.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Local sources: README.md; docs/review/windows-recheck.json; docs/review/mteb-uniform-result.json; docs/windows-review.md. Verified candidate SHA256 cb77efdbc0230b0342b6285770b687a5af856170776940559a0f079f9a002b72. Publication authorized on 4 October 2026; the release tag identifies the final package. Windows models already cached; no fresh download or full benchmark repeated. New GitHub CI not yet run.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Local sources: README.md; docs/review/windows-recheck.json; docs/review/mteb-uniform-result.json; docs/windows-review.md. Verified candidate SHA256 cb77efdbc0230b0342b6285770b687a5af856170776940559a0f079f9a002b72. Publication authorized on 4 October 2026; the release tag identifies the final package.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Local sources: README.md; docs/review/windows-recheck.json; docs/review/mteb-uniform-result.json; docs/windows-review.md. Verified candidate SHA256 cb77efdbc0230b0342b6285770b687a5af856170776940559a0f079f9a002b72. Publication authorized on 4 October 2026; the release tag identifies the final package. Final video URL supplied by the team; duration confirmed as 4 minutes 49 seconds. Screenshot shows the current local build.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694c224cac415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72e77c16c9a4afb" /><Relationship Type="http://schemas.openxmlformats.org/officeDocument/2006/relationships/slideLayout" Target="/ppt/slideLayouts/slideLayout1.xml" Id="Rb08826be3b074a1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08826be3b074a1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9c1ca8f33c43c8" /><Relationship Type="http://schemas.openxmlformats.org/officeDocument/2006/relationships/image" Target="/ppt/media/image.png" Id="Rc42c65363a994a21" /><Relationship Type="http://schemas.openxmlformats.org/officeDocument/2006/relationships/hyperlink" Target="https://github.com/SinghDevansh-2006/prism-code-intelligence" TargetMode="External" Id="R24879dcc8de64e03" /><Relationship Type="http://schemas.openxmlformats.org/officeDocument/2006/relationships/notesSlide" Target="/ppt/notesSlides/notesSlide1.xml" Id="R647e13d7823b425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f4c407abf94abe" /><Relationship Type="http://schemas.openxmlformats.org/officeDocument/2006/relationships/notesSlide" Target="/ppt/notesSlides/notesSlide2.xml" Id="R89d0f8c018dd4ba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0100ac6d124951" /><Relationship Type="http://schemas.openxmlformats.org/officeDocument/2006/relationships/notesSlide" Target="/ppt/notesSlides/notesSlide3.xml" Id="Rec4372c8bb9e42b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b647bcf9e94377" /><Relationship Type="http://schemas.openxmlformats.org/officeDocument/2006/relationships/notesSlide" Target="/ppt/notesSlides/notesSlide4.xml" Id="R2dc7058fba8d40d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dc81b6e4484786" /><Relationship Type="http://schemas.openxmlformats.org/officeDocument/2006/relationships/image" Target="/ppt/media/image.jpeg" Id="Re16bd06eb5ad4649" /><Relationship Type="http://schemas.openxmlformats.org/officeDocument/2006/relationships/hyperlink" Target="https://drive.google.com/file/d/1Xe8Nz8a73yBgCInpAZProjbVSwcQ25Yj/view?usp=sharing" TargetMode="External" Id="Rd4e57ce2eab84f44" /><Relationship Type="http://schemas.openxmlformats.org/officeDocument/2006/relationships/notesSlide" Target="/ppt/notesSlides/notesSlide5.xml" Id="R3f9a6639eee84d3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99212047cd4a91" /><Relationship Type="http://schemas.openxmlformats.org/officeDocument/2006/relationships/notesSlide" Target="/ppt/notesSlides/notesSlide6.xml" Id="R70cca0218f5c401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e015ff42b24171" /><Relationship Type="http://schemas.openxmlformats.org/officeDocument/2006/relationships/notesSlide" Target="/ppt/notesSlides/notesSlide7.xml" Id="R9b3fdc7bdba74c9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47b7b316c64472" /><Relationship Type="http://schemas.openxmlformats.org/officeDocument/2006/relationships/notesSlide" Target="/ppt/notesSlides/notesSlide8.xml" Id="R4dde973f22df4ea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eb7a4104cc47fc" /><Relationship Type="http://schemas.openxmlformats.org/officeDocument/2006/relationships/notesSlide" Target="/ppt/notesSlides/notesSlide9.xml" Id="Reb0f824a974e492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ae88cca60e42fb" /><Relationship Type="http://schemas.openxmlformats.org/officeDocument/2006/relationships/notesSlide" Target="/ppt/notesSlides/notesSlide10.xml" Id="Ra49a8b00bc2a4c9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6bad49674d46df" /><Relationship Type="http://schemas.openxmlformats.org/officeDocument/2006/relationships/notesSlide" Target="/ppt/notesSlides/notesSlide11.xml" Id="R71be1ca579204e8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06bcb0cbc541dc" /><Relationship Type="http://schemas.openxmlformats.org/officeDocument/2006/relationships/hyperlink" Target="https://github.com/SinghDevansh-2006/prism-code-intelligence" TargetMode="External" Id="Raf0dbb0a0524448f" /><Relationship Type="http://schemas.openxmlformats.org/officeDocument/2006/relationships/hyperlink" Target="https://drive.google.com/file/d/1Xe8Nz8a73yBgCInpAZProjbVSwcQ25Yj/view?usp=sharing" TargetMode="External" Id="R4addf0c14e6a4291" /><Relationship Type="http://schemas.openxmlformats.org/officeDocument/2006/relationships/notesSlide" Target="/ppt/notesSlides/notesSlide12.xml" Id="Rf54a4e7ee4c94a9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43FD59-8DE2-41C3-B3D7-1E047C16B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14CB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14CB0"/>
                </a:solidFill>
                <a:latin typeface="Arial"/>
                <a:ea typeface="Arial"/>
                <a:cs typeface="Arial"/>
              </a:rPr>
              <a:t>SAMSUNG PRISM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27B746-2352-4DF6-A407-380840DA4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6680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A183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A1830"/>
                </a:solidFill>
                <a:latin typeface="Arial"/>
                <a:ea typeface="Arial"/>
                <a:cs typeface="Arial"/>
              </a:rPr>
              <a:t>Generative AI Hackathon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4F140E-7632-4E9A-A7CD-7855B8574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19275"/>
            <a:ext cx="666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655E7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655E79"/>
                </a:solidFill>
                <a:latin typeface="Arial"/>
                <a:ea typeface="Arial"/>
                <a:cs typeface="Arial"/>
              </a:rPr>
              <a:t>3rd Edition 2026–27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222D60-5DF8-48B3-9867-20D794ED4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43175"/>
            <a:ext cx="7667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714CB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714CB0"/>
                </a:solidFill>
                <a:latin typeface="Arial"/>
                <a:ea typeface="Arial"/>
                <a:cs typeface="Arial"/>
              </a:rPr>
              <a:t>PRISM Agentic Code Intelligence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DE58D2-CD5F-4553-B480-FF76A350F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752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A183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A1830"/>
                </a:solidFill>
                <a:latin typeface="Arial"/>
                <a:ea typeface="Arial"/>
                <a:cs typeface="Arial"/>
              </a:rPr>
              <a:t>Theme 1: Agentic Code Intelligence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8B5EDA-7F1D-4CF5-B56E-5D3770C5B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3855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714CB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14CB0"/>
                </a:solidFill>
                <a:latin typeface="Arial"/>
                <a:ea typeface="Arial"/>
                <a:cs typeface="Arial"/>
              </a:rPr>
              <a:t>SRM_Team Ctrl Alt Elite_1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2755A9-3FD3-44A0-B5AF-3BB475D35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7477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A183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A1830"/>
                </a:solidFill>
                <a:latin typeface="Arial"/>
                <a:ea typeface="Arial"/>
                <a:cs typeface="Arial"/>
              </a:rPr>
              <a:t>SRM Institute of Science and Technology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83EB64-6557-4F39-B477-9FCB07BE7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76775"/>
            <a:ext cx="80962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1A183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A1830"/>
                </a:solidFill>
                <a:latin typeface="Arial"/>
                <a:ea typeface="Arial"/>
                <a:cs typeface="Arial"/>
              </a:rPr>
              <a:t>Devansh Singh (Team Lead)  ·  ds8467@srmist.edu.in</a:t>
            </a:r>
          </a:p>
          <a:p xmlns:a="http://schemas.openxmlformats.org/drawingml/2006/main">
            <a:pPr>
              <a:buNone/>
              <a:defRPr sz="1575" b="0">
                <a:solidFill>
                  <a:srgbClr val="1A183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A1830"/>
                </a:solidFill>
                <a:latin typeface="Arial"/>
                <a:ea typeface="Arial"/>
                <a:cs typeface="Arial"/>
              </a:rPr>
              <a:t>Sankalp Kumar  ·  sk4156@srmist.edu.in</a:t>
            </a:r>
          </a:p>
          <a:p xmlns:a="http://schemas.openxmlformats.org/drawingml/2006/main">
            <a:pPr>
              <a:buNone/>
              <a:defRPr sz="1575" b="0">
                <a:solidFill>
                  <a:srgbClr val="1A183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A1830"/>
                </a:solidFill>
                <a:latin typeface="Arial"/>
                <a:ea typeface="Arial"/>
                <a:cs typeface="Arial"/>
              </a:rPr>
              <a:t>Ved Kumar  ·  vk9977@srmist.edu.in</a:t>
            </a:r>
          </a:p>
          <a:p xmlns:a="http://schemas.openxmlformats.org/drawingml/2006/main">
            <a:pPr>
              <a:buNone/>
              <a:defRPr sz="1575" b="0">
                <a:solidFill>
                  <a:srgbClr val="1A183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A1830"/>
                </a:solidFill>
                <a:latin typeface="Arial"/>
                <a:ea typeface="Arial"/>
                <a:cs typeface="Arial"/>
              </a:rPr>
              <a:t>Shreel Singh  ·  ss9735@srmist.edu.in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2c65363a994a21"/>
          <a:stretch xmlns:a="http://schemas.openxmlformats.org/drawingml/2006/main"/>
        </p:blipFill>
        <p:spPr>
          <a:xfrm xmlns:a="http://schemas.openxmlformats.org/drawingml/2006/main">
            <a:off x="8572500" y="1859475"/>
            <a:ext cx="2905125" cy="2967601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A8E06B-5755-4C80-A0CF-46F26406A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62675"/>
            <a:ext cx="628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714CB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714CB0"/>
                </a:solidFill>
                <a:latin typeface="Arial"/>
                <a:ea typeface="Arial"/>
                <a:cs typeface="Arial"/>
                <a:hlinkClick xmlns:r="http://schemas.openxmlformats.org/officeDocument/2006/relationships" r:id="R24879dcc8de64e03"/>
              </a:rPr>
              <a:t>Public GitHub repository</a:t>
            </a:r>
          </a:p>
        </p:txBody>
      </p:sp>
    </p:spTree>
    <p:extLst>
      <p:ext uri="{BB962C8B-B14F-4D97-AF65-F5344CB8AC3E}">
        <p14:creationId xmlns:p14="http://schemas.microsoft.com/office/powerpoint/2010/main" val="12347253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E22B65-ADAF-40EC-BF08-E1099C7C9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714CB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714CB0"/>
                </a:solidFill>
                <a:latin typeface="Arial"/>
                <a:ea typeface="Arial"/>
                <a:cs typeface="Arial"/>
              </a:rPr>
              <a:t>Theme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CBD482-8B64-4712-B442-C295D84BE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7162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1">
                <a:solidFill>
                  <a:srgbClr val="1A1830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A1830"/>
                </a:solidFill>
                <a:latin typeface="Arial"/>
                <a:ea typeface="Arial"/>
                <a:cs typeface="Arial"/>
              </a:rPr>
              <a:t>Relevant code without inspecting every file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48B093-5212-4C2C-BFE8-6BFC3B26A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57425"/>
            <a:ext cx="10477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A18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A1830"/>
                </a:solidFill>
                <a:latin typeface="Arial"/>
                <a:ea typeface="Arial"/>
                <a:cs typeface="Arial"/>
              </a:rPr>
              <a:t>Find Python implementations even when the question uses different wording or includes structural and version constraints.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1B8DDD-B0D9-480A-AEE9-625960880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33750"/>
            <a:ext cx="2905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714CB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14CB0"/>
                </a:solidFill>
                <a:latin typeface="Arial"/>
                <a:ea typeface="Arial"/>
                <a:cs typeface="Arial"/>
              </a:rPr>
              <a:t>Find by behavior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E8BA1D-32D6-452F-AE26-C15701252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333750"/>
            <a:ext cx="7334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A183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A1830"/>
                </a:solidFill>
                <a:latin typeface="Arial"/>
                <a:ea typeface="Arial"/>
                <a:cs typeface="Arial"/>
              </a:rPr>
              <a:t>Compare query meaning with stored code embeddings and rank the strongest matches.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AE254F-7893-41D6-B4B1-74E127DE5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38600"/>
            <a:ext cx="1066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0E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CAD147-FABB-4D33-8111-A70D2A811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91000"/>
            <a:ext cx="2905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714CB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14CB0"/>
                </a:solidFill>
                <a:latin typeface="Arial"/>
                <a:ea typeface="Arial"/>
                <a:cs typeface="Arial"/>
              </a:rPr>
              <a:t>Inspect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A5BEA2-4FF6-4748-B928-A9B8E8F5D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191000"/>
            <a:ext cx="7334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A183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A1830"/>
                </a:solidFill>
                <a:latin typeface="Arial"/>
                <a:ea typeface="Arial"/>
                <a:cs typeface="Arial"/>
              </a:rPr>
              <a:t>Trace imports, symbols and structural matches to the source code.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356E35-0404-4003-945F-370CBBB7E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95850"/>
            <a:ext cx="1066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0E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8CA6FB-E64B-46E6-A1ED-92B6FC49A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48250"/>
            <a:ext cx="2905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714CB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14CB0"/>
                </a:solidFill>
                <a:latin typeface="Arial"/>
                <a:ea typeface="Arial"/>
                <a:cs typeface="Arial"/>
              </a:rPr>
              <a:t>Understand versions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1C51A1-A6DE-4D62-8B4A-8A2DEDF48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048250"/>
            <a:ext cx="7334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A183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A1830"/>
                </a:solidFill>
                <a:latin typeface="Arial"/>
                <a:ea typeface="Arial"/>
                <a:cs typeface="Arial"/>
              </a:rPr>
              <a:t>Retrieve stored versions and inspect their lineage.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605C95-5755-42C1-AA7E-68115B49F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0E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5A3F2F-E16C-4585-9FE6-B776A2E4A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1912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714CB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14CB0"/>
                </a:solidFill>
                <a:latin typeface="Arial"/>
                <a:ea typeface="Arial"/>
                <a:cs typeface="Arial"/>
              </a:rPr>
              <a:t>Scope: Retrieval of existing Python code</a:t>
            </a:r>
          </a:p>
        </p:txBody>
      </p:sp>
    </p:spTree>
    <p:extLst>
      <p:ext uri="{BB962C8B-B14F-4D97-AF65-F5344CB8AC3E}">
        <p14:creationId xmlns:p14="http://schemas.microsoft.com/office/powerpoint/2010/main" val="18059502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983907-C198-4E49-B8EB-553F5FB0B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714CB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714CB0"/>
                </a:solidFill>
                <a:latin typeface="Arial"/>
                <a:ea typeface="Arial"/>
                <a:cs typeface="Arial"/>
              </a:rPr>
              <a:t>Existing Solutions &amp; Gaps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762000" y="1809750"/>
          <a:ext xmlns:a="http://schemas.openxmlformats.org/drawingml/2006/main" cx="106680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3143250"/>
                <a:gridCol w="4810125"/>
              </a:tblGrid>
              <a:tr h="809625">
                <a:tc>
                  <a:txBody>
                    <a:bodyPr lIns="114300" tIns="95250" rIns="114300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Approach</a:t>
                      </a:r>
                    </a:p>
                  </a:txBody>
                  <a:tcPr marL="91440" marR="91440" marT="45720" marB="45720">
                    <a:solidFill>
                      <a:srgbClr val="714CB0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Useful for</a:t>
                      </a:r>
                    </a:p>
                  </a:txBody>
                  <a:tcPr marL="91440" marR="91440" marT="45720" marB="45720">
                    <a:solidFill>
                      <a:srgbClr val="714CB0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Gap addressed</a:t>
                      </a:r>
                    </a:p>
                  </a:txBody>
                  <a:tcPr marL="91440" marR="91440" marT="45720" marB="45720">
                    <a:solidFill>
                      <a:srgbClr val="714CB0"/>
                    </a:solidFill>
                  </a:tcPr>
                </a:tc>
              </a:tr>
              <a:tr h="809625">
                <a:tc>
                  <a:txBody>
                    <a:bodyPr lIns="114300" tIns="95250" rIns="114300" bIns="76200"/>
                    <a:lstStyle/>
                    <a:p>
                      <a:r>
                        <a:rPr sz="1725" b="0">
                          <a:solidFill>
                            <a:srgbClr val="1A1830"/>
                          </a:solidFill>
                          <a:latin typeface="Arial"/>
                          <a:ea typeface="Arial"/>
                          <a:cs typeface="Arial"/>
                        </a:rPr>
                        <a:t>Keyword search</a:t>
                      </a:r>
                    </a:p>
                  </a:txBody>
                  <a:tcPr marL="91440" marR="91440" marT="45720" marB="45720">
                    <a:solidFill>
                      <a:srgbClr val="F1EBF9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725" b="0">
                          <a:solidFill>
                            <a:srgbClr val="1A1830"/>
                          </a:solidFill>
                          <a:latin typeface="Arial"/>
                          <a:ea typeface="Arial"/>
                          <a:cs typeface="Arial"/>
                        </a:rPr>
                        <a:t>Names and literal terms</a:t>
                      </a:r>
                    </a:p>
                  </a:txBody>
                  <a:tcPr marL="91440" marR="91440" marT="45720" marB="45720">
                    <a:solidFill>
                      <a:srgbClr val="F1EBF9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725" b="0">
                          <a:solidFill>
                            <a:srgbClr val="1A1830"/>
                          </a:solidFill>
                          <a:latin typeface="Arial"/>
                          <a:ea typeface="Arial"/>
                          <a:cs typeface="Arial"/>
                        </a:rPr>
                        <a:t>Can miss paraphrased behavior</a:t>
                      </a:r>
                    </a:p>
                  </a:txBody>
                  <a:tcPr marL="91440" marR="91440" marT="45720" marB="45720">
                    <a:solidFill>
                      <a:srgbClr val="F1EBF9"/>
                    </a:solidFill>
                  </a:tcPr>
                </a:tc>
              </a:tr>
              <a:tr h="809625">
                <a:tc>
                  <a:txBody>
                    <a:bodyPr lIns="114300" tIns="95250" rIns="114300" bIns="76200"/>
                    <a:lstStyle/>
                    <a:p>
                      <a:r>
                        <a:rPr sz="1725" b="0">
                          <a:solidFill>
                            <a:srgbClr val="1A1830"/>
                          </a:solidFill>
                          <a:latin typeface="Arial"/>
                          <a:ea typeface="Arial"/>
                          <a:cs typeface="Arial"/>
                        </a:rPr>
                        <a:t>Dense retrieval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725" b="0">
                          <a:solidFill>
                            <a:srgbClr val="1A1830"/>
                          </a:solidFill>
                          <a:latin typeface="Arial"/>
                          <a:ea typeface="Arial"/>
                          <a:cs typeface="Arial"/>
                        </a:rPr>
                        <a:t>Natural-language intent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725" b="0">
                          <a:solidFill>
                            <a:srgbClr val="1A1830"/>
                          </a:solidFill>
                          <a:latin typeface="Arial"/>
                          <a:ea typeface="Arial"/>
                          <a:cs typeface="Arial"/>
                        </a:rPr>
                        <a:t>Does not enforce source structure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 lIns="114300" tIns="95250" rIns="114300" bIns="76200"/>
                    <a:lstStyle/>
                    <a:p>
                      <a:r>
                        <a:rPr sz="1725" b="0">
                          <a:solidFill>
                            <a:srgbClr val="1A1830"/>
                          </a:solidFill>
                          <a:latin typeface="Arial"/>
                          <a:ea typeface="Arial"/>
                          <a:cs typeface="Arial"/>
                        </a:rPr>
                        <a:t>Single-version search</a:t>
                      </a:r>
                    </a:p>
                  </a:txBody>
                  <a:tcPr marL="91440" marR="91440" marT="45720" marB="45720">
                    <a:solidFill>
                      <a:srgbClr val="F1EBF9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725" b="0">
                          <a:solidFill>
                            <a:srgbClr val="1A1830"/>
                          </a:solidFill>
                          <a:latin typeface="Arial"/>
                          <a:ea typeface="Arial"/>
                          <a:cs typeface="Arial"/>
                        </a:rPr>
                        <a:t>Current implementation</a:t>
                      </a:r>
                    </a:p>
                  </a:txBody>
                  <a:tcPr marL="91440" marR="91440" marT="45720" marB="45720">
                    <a:solidFill>
                      <a:srgbClr val="F1EBF9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725" b="0">
                          <a:solidFill>
                            <a:srgbClr val="1A1830"/>
                          </a:solidFill>
                          <a:latin typeface="Arial"/>
                          <a:ea typeface="Arial"/>
                          <a:cs typeface="Arial"/>
                        </a:rPr>
                        <a:t>Does not show version relationships</a:t>
                      </a:r>
                    </a:p>
                  </a:txBody>
                  <a:tcPr marL="91440" marR="91440" marT="45720" marB="45720">
                    <a:solidFill>
                      <a:srgbClr val="F1EBF9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98B155-EBA3-4FE8-B97F-FB658A659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4102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714CB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14CB0"/>
                </a:solidFill>
                <a:latin typeface="Arial"/>
                <a:ea typeface="Arial"/>
                <a:cs typeface="Arial"/>
              </a:rPr>
              <a:t>Our response: Select a retrieval strategy suited to the question.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0258CF-EBEC-4133-BD01-7C22B0C1B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62198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655E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55E79"/>
                </a:solidFill>
                <a:latin typeface="Arial"/>
                <a:ea typeface="Arial"/>
                <a:cs typeface="Arial"/>
              </a:rPr>
              <a:t>Conceptual comparison. No competitor benchmark is claimed.</a:t>
            </a:r>
          </a:p>
        </p:txBody>
      </p:sp>
    </p:spTree>
    <p:extLst>
      <p:ext uri="{BB962C8B-B14F-4D97-AF65-F5344CB8AC3E}">
        <p14:creationId xmlns:p14="http://schemas.microsoft.com/office/powerpoint/2010/main" val="3348693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CF1FDED-2E90-4A3A-ACE0-6B3AEB90A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714CB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714CB0"/>
                </a:solidFill>
                <a:latin typeface="Arial"/>
                <a:ea typeface="Arial"/>
                <a:cs typeface="Arial"/>
              </a:rPr>
              <a:t>Our Solutions &amp; Architecture Diagram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0AAA29-7744-4465-AAD2-96EC49DFF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33525"/>
            <a:ext cx="2381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1EBF9"/>
          </a:solidFill>
          <a:ln xmlns:a="http://schemas.openxmlformats.org/drawingml/2006/main" w="9525">
            <a:solidFill>
              <a:srgbClr val="DCD0EF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714CB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14CB0"/>
                </a:solidFill>
                <a:latin typeface="Arial"/>
                <a:ea typeface="Arial"/>
                <a:cs typeface="Arial"/>
              </a:rPr>
              <a:t>User question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1ADBFB-8970-479C-BC4A-7FC950D60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533525"/>
            <a:ext cx="5715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1EBF9"/>
          </a:solidFill>
          <a:ln xmlns:a="http://schemas.openxmlformats.org/drawingml/2006/main" w="9525">
            <a:solidFill>
              <a:srgbClr val="DCD0EF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714CB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14CB0"/>
                </a:solidFill>
                <a:latin typeface="Arial"/>
                <a:ea typeface="Arial"/>
                <a:cs typeface="Arial"/>
              </a:rPr>
              <a:t>FastAPI + rule-based router</a:t>
            </a:r>
          </a:p>
        </p:txBody>
      </p:sp>
      <p:cxnSp>
        <p:nvCxnSpPr>
          <p:cNvPr id="67" name=""/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3190875" y="184785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29BD2"/>
            </a:solidFill>
            <a:tailEnd type="triangle" w="sm" len="sm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D15168-60B3-4B73-9DEE-42A67D931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562100"/>
            <a:ext cx="152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655E7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5E79"/>
                </a:solidFill>
                <a:latin typeface="Arial"/>
                <a:ea typeface="Arial"/>
                <a:cs typeface="Arial"/>
              </a:rPr>
              <a:t>One route per query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9B1EBD-AF06-49EF-8462-3C7F6C082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338137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1EBF9"/>
          </a:solidFill>
          <a:ln xmlns:a="http://schemas.openxmlformats.org/drawingml/2006/main" w="9525">
            <a:solidFill>
              <a:srgbClr val="DCD0EF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714CB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14CB0"/>
                </a:solidFill>
                <a:latin typeface="Arial"/>
                <a:ea typeface="Arial"/>
                <a:cs typeface="Arial"/>
              </a:rPr>
              <a:t>SEMANTIC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714CB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14CB0"/>
                </a:solidFill>
                <a:latin typeface="Arial"/>
                <a:ea typeface="Arial"/>
                <a:cs typeface="Arial"/>
              </a:rPr>
              <a:t>Search by meaning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DE3BEB-802E-452A-BF0E-6BE239D9C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667000"/>
            <a:ext cx="214312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1EBF9"/>
          </a:solidFill>
          <a:ln xmlns:a="http://schemas.openxmlformats.org/drawingml/2006/main" w="9525">
            <a:solidFill>
              <a:srgbClr val="DCD0EF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714CB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14CB0"/>
                </a:solidFill>
                <a:latin typeface="Arial"/>
                <a:ea typeface="Arial"/>
                <a:cs typeface="Arial"/>
              </a:rPr>
              <a:t>EXACT USAGE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714CB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14CB0"/>
                </a:solidFill>
                <a:latin typeface="Arial"/>
                <a:ea typeface="Arial"/>
                <a:cs typeface="Arial"/>
              </a:rPr>
              <a:t>Imports and calls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55C740-124F-4B60-8DC4-D7EB6B668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667000"/>
            <a:ext cx="214312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1EBF9"/>
          </a:solidFill>
          <a:ln xmlns:a="http://schemas.openxmlformats.org/drawingml/2006/main" w="9525">
            <a:solidFill>
              <a:srgbClr val="DCD0EF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714CB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14CB0"/>
                </a:solidFill>
                <a:latin typeface="Arial"/>
                <a:ea typeface="Arial"/>
                <a:cs typeface="Arial"/>
              </a:rPr>
              <a:t>STRUCTURAL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714CB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14CB0"/>
                </a:solidFill>
                <a:latin typeface="Arial"/>
                <a:ea typeface="Arial"/>
                <a:cs typeface="Arial"/>
              </a:rPr>
              <a:t>Code constraints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706567-2C93-4EBD-9090-CBD3A407D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667000"/>
            <a:ext cx="214312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1EBF9"/>
          </a:solidFill>
          <a:ln xmlns:a="http://schemas.openxmlformats.org/drawingml/2006/main" w="9525">
            <a:solidFill>
              <a:srgbClr val="DCD0EF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714CB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14CB0"/>
                </a:solidFill>
                <a:latin typeface="Arial"/>
                <a:ea typeface="Arial"/>
                <a:cs typeface="Arial"/>
              </a:rPr>
              <a:t>EVOLUTION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714CB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14CB0"/>
                </a:solidFill>
                <a:latin typeface="Arial"/>
                <a:ea typeface="Arial"/>
                <a:cs typeface="Arial"/>
              </a:rPr>
              <a:t>Git snapshots</a:t>
            </a:r>
          </a:p>
        </p:txBody>
      </p:sp>
      <p:cxnSp>
        <p:nvCxnSpPr>
          <p:cNvPr id="73" name=""/>
          <p:cNvCxnSpPr>
            <a:stCxn xmlns:a="http://schemas.openxmlformats.org/drawingml/2006/main" id="3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 flipH="1">
            <a:off x="2452688" y="2162175"/>
            <a:ext cx="4452938" cy="5048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B29BD2"/>
            </a:solidFill>
            <a:tailEnd type="triangle" w="sm" len="sm"/>
          </a:ln>
        </p:spPr>
      </p:cxnSp>
      <p:cxnSp>
        <p:nvCxnSpPr>
          <p:cNvPr id="74" name=""/>
          <p:cNvCxnSpPr>
            <a:stCxn xmlns:a="http://schemas.openxmlformats.org/drawingml/2006/main" id="3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 flipH="1">
            <a:off x="5595938" y="2162175"/>
            <a:ext cx="1309688" cy="5048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B29BD2"/>
            </a:solidFill>
            <a:tailEnd type="triangle" w="sm" len="sm"/>
          </a:ln>
        </p:spPr>
      </p:cxnSp>
      <p:cxnSp>
        <p:nvCxnSpPr>
          <p:cNvPr id="75" name=""/>
          <p:cNvCxnSpPr>
            <a:stCxn xmlns:a="http://schemas.openxmlformats.org/drawingml/2006/main" id="3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6905625" y="2162175"/>
            <a:ext cx="1166813" cy="5048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B29BD2"/>
            </a:solidFill>
            <a:tailEnd type="triangle" w="sm" len="sm"/>
          </a:ln>
        </p:spPr>
      </p:cxnSp>
      <p:cxnSp>
        <p:nvCxnSpPr>
          <p:cNvPr id="76" name=""/>
          <p:cNvCxnSpPr>
            <a:stCxn xmlns:a="http://schemas.openxmlformats.org/drawingml/2006/main" id="3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6905625" y="2162175"/>
            <a:ext cx="3643313" cy="5048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B29BD2"/>
            </a:solidFill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77970B-8E2F-4999-B7EC-23B4D6085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71900"/>
            <a:ext cx="16573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1EBF9"/>
          </a:solidFill>
          <a:ln xmlns:a="http://schemas.openxmlformats.org/drawingml/2006/main" w="9525">
            <a:solidFill>
              <a:srgbClr val="DCD0EF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714CB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14CB0"/>
                </a:solidFill>
                <a:latin typeface="Arial"/>
                <a:ea typeface="Arial"/>
                <a:cs typeface="Arial"/>
              </a:rPr>
              <a:t>Gemma 300M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714CB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14CB0"/>
                </a:solidFill>
                <a:latin typeface="Arial"/>
                <a:ea typeface="Arial"/>
                <a:cs typeface="Arial"/>
              </a:rPr>
              <a:t>65% weight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026A1D-0CD9-4878-8EF1-2D81B8C5B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771900"/>
            <a:ext cx="16573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1EBF9"/>
          </a:solidFill>
          <a:ln xmlns:a="http://schemas.openxmlformats.org/drawingml/2006/main" w="9525">
            <a:solidFill>
              <a:srgbClr val="DCD0EF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714CB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14CB0"/>
                </a:solidFill>
                <a:latin typeface="Arial"/>
                <a:ea typeface="Arial"/>
                <a:cs typeface="Arial"/>
              </a:rPr>
              <a:t>Qwen 0.6B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714CB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14CB0"/>
                </a:solidFill>
                <a:latin typeface="Arial"/>
                <a:ea typeface="Arial"/>
                <a:cs typeface="Arial"/>
              </a:rPr>
              <a:t>35% weight</a:t>
            </a:r>
          </a:p>
        </p:txBody>
      </p:sp>
      <p:cxnSp>
        <p:nvCxnSpPr>
          <p:cNvPr id="79" name=""/>
          <p:cNvCxnSpPr>
            <a:stCxn xmlns:a="http://schemas.openxmlformats.org/drawingml/2006/main" id="6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 flipH="1">
            <a:off x="1590675" y="3409950"/>
            <a:ext cx="862013" cy="3619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B29BD2"/>
            </a:solidFill>
            <a:tailEnd type="triangle" w="sm" len="sm"/>
          </a:ln>
        </p:spPr>
      </p:cxnSp>
      <p:cxnSp>
        <p:nvCxnSpPr>
          <p:cNvPr id="80" name=""/>
          <p:cNvCxnSpPr>
            <a:stCxn xmlns:a="http://schemas.openxmlformats.org/drawingml/2006/main" id="6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2452688" y="3409950"/>
            <a:ext cx="900113" cy="3619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B29BD2"/>
            </a:solidFill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82F3A7-AF9E-4E7D-9B21-9631B7B28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95850"/>
            <a:ext cx="341947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714CB0"/>
          </a:solidFill>
          <a:ln xmlns:a="http://schemas.openxmlformats.org/drawingml/2006/main" w="9525">
            <a:solidFill>
              <a:srgbClr val="DCD0EF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Z-score then 65/35 fusion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Rank highest first</a:t>
            </a:r>
          </a:p>
        </p:txBody>
      </p:sp>
      <p:cxnSp>
        <p:nvCxnSpPr>
          <p:cNvPr id="82" name=""/>
          <p:cNvCxnSpPr>
            <a:stCxn xmlns:a="http://schemas.openxmlformats.org/drawingml/2006/main" id="14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1590675" y="4533900"/>
            <a:ext cx="881063" cy="3619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B29BD2"/>
            </a:solidFill>
            <a:tailEnd type="triangle" w="sm" len="sm"/>
          </a:ln>
        </p:spPr>
      </p:cxnSp>
      <p:cxnSp>
        <p:nvCxnSpPr>
          <p:cNvPr id="83" name=""/>
          <p:cNvCxnSpPr>
            <a:stCxn xmlns:a="http://schemas.openxmlformats.org/drawingml/2006/main" id="15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 flipH="1">
            <a:off x="2471738" y="4533900"/>
            <a:ext cx="881063" cy="3619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B29BD2"/>
            </a:solidFill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ABA8CE-8AA2-45F9-B3A0-DD653A616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905250"/>
            <a:ext cx="2143125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1EBF9"/>
          </a:solidFill>
          <a:ln xmlns:a="http://schemas.openxmlformats.org/drawingml/2006/main" w="9525">
            <a:solidFill>
              <a:srgbClr val="DCD0EF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714CB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14CB0"/>
                </a:solidFill>
                <a:latin typeface="Arial"/>
                <a:ea typeface="Arial"/>
                <a:cs typeface="Arial"/>
              </a:rPr>
              <a:t>AST usage index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714CB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14CB0"/>
                </a:solidFill>
                <a:latin typeface="Arial"/>
                <a:ea typeface="Arial"/>
                <a:cs typeface="Arial"/>
              </a:rPr>
              <a:t>Source-line evidence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EBF358-5248-4008-9248-74FF3F4DF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905250"/>
            <a:ext cx="2143125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1EBF9"/>
          </a:solidFill>
          <a:ln xmlns:a="http://schemas.openxmlformats.org/drawingml/2006/main" w="9525">
            <a:solidFill>
              <a:srgbClr val="DCD0EF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714CB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14CB0"/>
                </a:solidFill>
                <a:latin typeface="Arial"/>
                <a:ea typeface="Arial"/>
                <a:cs typeface="Arial"/>
              </a:rPr>
              <a:t>Scope-aware AST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714CB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14CB0"/>
                </a:solidFill>
                <a:latin typeface="Arial"/>
                <a:ea typeface="Arial"/>
                <a:cs typeface="Arial"/>
              </a:rPr>
              <a:t>Source ordering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DE29DE-7D4E-4AAD-9E5C-F87C8AE54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905250"/>
            <a:ext cx="2143125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1EBF9"/>
          </a:solidFill>
          <a:ln xmlns:a="http://schemas.openxmlformats.org/drawingml/2006/main" w="9525">
            <a:solidFill>
              <a:srgbClr val="DCD0EF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714CB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14CB0"/>
                </a:solidFill>
                <a:latin typeface="Arial"/>
                <a:ea typeface="Arial"/>
                <a:cs typeface="Arial"/>
              </a:rPr>
              <a:t>Gemma similarity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714CB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14CB0"/>
                </a:solidFill>
                <a:latin typeface="Arial"/>
                <a:ea typeface="Arial"/>
                <a:cs typeface="Arial"/>
              </a:rPr>
              <a:t>Commit / path lineage</a:t>
            </a:r>
          </a:p>
        </p:txBody>
      </p:sp>
      <p:cxnSp>
        <p:nvCxnSpPr>
          <p:cNvPr id="87" name=""/>
          <p:cNvCxnSpPr>
            <a:stCxn xmlns:a="http://schemas.openxmlformats.org/drawingml/2006/main" id="7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5595938" y="3409950"/>
            <a:ext cx="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29BD2"/>
            </a:solidFill>
            <a:tailEnd type="triangle" w="sm" len="sm"/>
          </a:ln>
        </p:spPr>
      </p:cxnSp>
      <p:cxnSp>
        <p:nvCxnSpPr>
          <p:cNvPr id="88" name=""/>
          <p:cNvCxnSpPr>
            <a:stCxn xmlns:a="http://schemas.openxmlformats.org/drawingml/2006/main" id="8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8072438" y="3409950"/>
            <a:ext cx="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29BD2"/>
            </a:solidFill>
            <a:tailEnd type="triangle" w="sm" len="sm"/>
          </a:ln>
        </p:spPr>
      </p:cxnSp>
      <p:cxnSp>
        <p:nvCxnSpPr>
          <p:cNvPr id="89" name=""/>
          <p:cNvCxnSpPr>
            <a:stCxn xmlns:a="http://schemas.openxmlformats.org/drawingml/2006/main" id="9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10548938" y="3409950"/>
            <a:ext cx="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29BD2"/>
            </a:solidFill>
            <a:tail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BA9C06-16EF-459A-B520-E867989F1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314950"/>
            <a:ext cx="7096125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714CB0"/>
          </a:solidFill>
          <a:ln xmlns:a="http://schemas.openxmlformats.org/drawingml/2006/main" w="9525">
            <a:solidFill>
              <a:srgbClr val="DCD0EF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Ranked source code + evidence + version context where applicable</a:t>
            </a:r>
          </a:p>
        </p:txBody>
      </p:sp>
      <p:cxnSp>
        <p:nvCxnSpPr>
          <p:cNvPr id="91" name=""/>
          <p:cNvCxnSpPr>
            <a:stCxn xmlns:a="http://schemas.openxmlformats.org/drawingml/2006/main" id="18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4181475" y="5267325"/>
            <a:ext cx="342900" cy="3571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B29BD2"/>
            </a:solidFill>
            <a:tailEnd type="triangle" w="sm" len="sm"/>
          </a:ln>
        </p:spPr>
      </p:cxnSp>
      <p:cxnSp>
        <p:nvCxnSpPr>
          <p:cNvPr id="92" name=""/>
          <p:cNvCxnSpPr>
            <a:stCxn xmlns:a="http://schemas.openxmlformats.org/drawingml/2006/main" id="21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5595938" y="4838700"/>
            <a:ext cx="2476500" cy="4762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B29BD2"/>
            </a:solidFill>
            <a:tailEnd type="triangle" w="sm" len="sm"/>
          </a:ln>
        </p:spPr>
      </p:cxnSp>
      <p:cxnSp>
        <p:nvCxnSpPr>
          <p:cNvPr id="93" name=""/>
          <p:cNvCxnSpPr>
            <a:stCxn xmlns:a="http://schemas.openxmlformats.org/drawingml/2006/main" id="22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8072438" y="4838700"/>
            <a:ext cx="0" cy="476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29BD2"/>
            </a:solidFill>
            <a:tailEnd type="triangle" w="sm" len="sm"/>
          </a:ln>
        </p:spPr>
      </p:cxnSp>
      <p:cxnSp>
        <p:nvCxnSpPr>
          <p:cNvPr id="94" name=""/>
          <p:cNvCxnSpPr>
            <a:stCxn xmlns:a="http://schemas.openxmlformats.org/drawingml/2006/main" id="23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 flipH="1">
            <a:off x="8072438" y="4838700"/>
            <a:ext cx="2476500" cy="4762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B29BD2"/>
            </a:solidFill>
            <a:tailEnd type="triangle" w="sm" len="sm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F90A27D-8C13-4E3C-8966-F1FFD0013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61912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655E7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5E79"/>
                </a:solidFill>
                <a:latin typeface="Arial"/>
                <a:ea typeface="Arial"/>
                <a:cs typeface="Arial"/>
              </a:rPr>
              <a:t>Both models read the full query. Git scope: all versions, latest snapshot or selected commit.</a:t>
            </a:r>
          </a:p>
        </p:txBody>
      </p:sp>
    </p:spTree>
    <p:extLst>
      <p:ext uri="{BB962C8B-B14F-4D97-AF65-F5344CB8AC3E}">
        <p14:creationId xmlns:p14="http://schemas.microsoft.com/office/powerpoint/2010/main" val="3839055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C2CD76-15EE-45EB-9A8C-D2BB64334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714CB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714CB0"/>
                </a:solidFill>
                <a:latin typeface="Arial"/>
                <a:ea typeface="Arial"/>
                <a:cs typeface="Arial"/>
              </a:rPr>
              <a:t>Demo &amp; Product Walkthrough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6bd06eb5ad4649"/>
          <a:stretch xmlns:a="http://schemas.openxmlformats.org/drawingml/2006/main"/>
        </p:blipFill>
        <p:spPr>
          <a:xfrm xmlns:a="http://schemas.openxmlformats.org/drawingml/2006/main">
            <a:off x="762000" y="1381584"/>
            <a:ext cx="7096125" cy="4952082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7C8900-51DA-4640-A2B4-AF372F43B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67640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714CB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14CB0"/>
                </a:solidFill>
                <a:latin typeface="Arial"/>
                <a:ea typeface="Arial"/>
                <a:cs typeface="Arial"/>
              </a:rPr>
              <a:t>Four query types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802567-04BC-4924-88F0-A7B8D7765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286000"/>
            <a:ext cx="3095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714CB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14CB0"/>
                </a:solidFill>
                <a:latin typeface="Arial"/>
                <a:ea typeface="Arial"/>
                <a:cs typeface="Arial"/>
              </a:rPr>
              <a:t>Semantic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7A266F-D9D1-4BC9-BECD-5743E2A76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19375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A183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A1830"/>
                </a:solidFill>
                <a:latin typeface="Arial"/>
                <a:ea typeface="Arial"/>
                <a:cs typeface="Arial"/>
              </a:rPr>
              <a:t>Find a relevant validator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4EB059-526B-496D-A90D-E62C75792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124200"/>
            <a:ext cx="3095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714CB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14CB0"/>
                </a:solidFill>
                <a:latin typeface="Arial"/>
                <a:ea typeface="Arial"/>
                <a:cs typeface="Arial"/>
              </a:rPr>
              <a:t>Exact usage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23ECA4-7F24-470D-B568-477927711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457575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A183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A1830"/>
                </a:solidFill>
                <a:latin typeface="Arial"/>
                <a:ea typeface="Arial"/>
                <a:cs typeface="Arial"/>
              </a:rPr>
              <a:t>Files importing collections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B25D1D-6031-4832-960D-360855184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62400"/>
            <a:ext cx="3095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714CB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14CB0"/>
                </a:solidFill>
                <a:latin typeface="Arial"/>
                <a:ea typeface="Arial"/>
                <a:cs typeface="Arial"/>
              </a:rPr>
              <a:t>Structural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6CED69-38F8-48BF-BAFC-A408B18D6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295775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A183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A1830"/>
                </a:solidFill>
                <a:latin typeface="Arial"/>
                <a:ea typeface="Arial"/>
                <a:cs typeface="Arial"/>
              </a:rPr>
              <a:t>Range before print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43F4E2-E9FD-42C4-ABC6-5D45ED3F4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800600"/>
            <a:ext cx="3095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714CB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14CB0"/>
                </a:solidFill>
                <a:latin typeface="Arial"/>
                <a:ea typeface="Arial"/>
                <a:cs typeface="Arial"/>
              </a:rPr>
              <a:t>Evolution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D41C1E-6372-4A86-BEBA-A23838C1C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133975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A183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A1830"/>
                </a:solidFill>
                <a:latin typeface="Arial"/>
                <a:ea typeface="Arial"/>
                <a:cs typeface="Arial"/>
              </a:rPr>
              <a:t>Actual Git / API history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88301E-B6A1-4B70-AF01-BD98A0BBD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7721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714CB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14CB0"/>
                </a:solidFill>
                <a:latin typeface="Arial"/>
                <a:ea typeface="Arial"/>
                <a:cs typeface="Arial"/>
                <a:hlinkClick xmlns:r="http://schemas.openxmlformats.org/officeDocument/2006/relationships" r:id="Rd4e57ce2eab84f44"/>
              </a:rPr>
              <a:t>Watch the demo — 4:49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612841-9274-49F8-AC67-8B1502BE4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4293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655E7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5E79"/>
                </a:solidFill>
                <a:latin typeface="Arial"/>
                <a:ea typeface="Arial"/>
                <a:cs typeface="Arial"/>
              </a:rPr>
              <a:t>Current local UI · Actual Git history · 8,765-document code corpus</a:t>
            </a:r>
          </a:p>
        </p:txBody>
      </p:sp>
    </p:spTree>
    <p:extLst>
      <p:ext uri="{BB962C8B-B14F-4D97-AF65-F5344CB8AC3E}">
        <p14:creationId xmlns:p14="http://schemas.microsoft.com/office/powerpoint/2010/main" val="7772260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3B2597-DF9A-4E80-965A-9C85F5716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714CB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714CB0"/>
                </a:solidFill>
                <a:latin typeface="Arial"/>
                <a:ea typeface="Arial"/>
                <a:cs typeface="Arial"/>
              </a:rPr>
              <a:t>Tools and tech stack used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D13443-891C-49D2-8B19-655B2557B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43075"/>
            <a:ext cx="2905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714CB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14CB0"/>
                </a:solidFill>
                <a:latin typeface="Arial"/>
                <a:ea typeface="Arial"/>
                <a:cs typeface="Arial"/>
              </a:rPr>
              <a:t>Application runtime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E5A77C-DDA4-4AF1-AACF-09598D25F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743075"/>
            <a:ext cx="7334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A183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A1830"/>
                </a:solidFill>
                <a:latin typeface="Arial"/>
                <a:ea typeface="Arial"/>
                <a:cs typeface="Arial"/>
              </a:rPr>
              <a:t>Python 3.11, FastAPI / Uvicorn</a:t>
            </a:r>
          </a:p>
          <a:p xmlns:a="http://schemas.openxmlformats.org/drawingml/2006/main">
            <a:pPr>
              <a:buNone/>
              <a:defRPr sz="1875" b="0">
                <a:solidFill>
                  <a:srgbClr val="1A183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A1830"/>
                </a:solidFill>
                <a:latin typeface="Arial"/>
                <a:ea typeface="Arial"/>
                <a:cs typeface="Arial"/>
              </a:rPr>
              <a:t>HTML / CSS / JavaScript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6D37C8-AEE8-4D5D-B565-4C989EDC5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05100"/>
            <a:ext cx="1066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0E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87451C-C946-4932-98A3-ECE96CAB5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2905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714CB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14CB0"/>
                </a:solidFill>
                <a:latin typeface="Arial"/>
                <a:ea typeface="Arial"/>
                <a:cs typeface="Arial"/>
              </a:rPr>
              <a:t>Retrieval runtime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22A9E2-C651-4E92-8A8D-60D7AC472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57500"/>
            <a:ext cx="7334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A183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A1830"/>
                </a:solidFill>
                <a:latin typeface="Arial"/>
                <a:ea typeface="Arial"/>
                <a:cs typeface="Arial"/>
              </a:rPr>
              <a:t>PyTorch, SentenceTransformers / Transformers</a:t>
            </a:r>
          </a:p>
          <a:p xmlns:a="http://schemas.openxmlformats.org/drawingml/2006/main">
            <a:pPr>
              <a:buNone/>
              <a:defRPr sz="1875" b="0">
                <a:solidFill>
                  <a:srgbClr val="1A183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A1830"/>
                </a:solidFill>
                <a:latin typeface="Arial"/>
                <a:ea typeface="Arial"/>
                <a:cs typeface="Arial"/>
              </a:rPr>
              <a:t>EmbeddingGemma-300M + Qwen3-Embedding-0.6B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0BA5CD-068B-406B-AA0C-79DD213D8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9525"/>
            <a:ext cx="1066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0E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4C8E9E-82AB-4A57-A256-432D0BD44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71925"/>
            <a:ext cx="2905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714CB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14CB0"/>
                </a:solidFill>
                <a:latin typeface="Arial"/>
                <a:ea typeface="Arial"/>
                <a:cs typeface="Arial"/>
              </a:rPr>
              <a:t>Indexes and evaluation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BA9FCE-E56D-4289-9771-CDA3DA67B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971925"/>
            <a:ext cx="7334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A183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A1830"/>
                </a:solidFill>
                <a:latin typeface="Arial"/>
                <a:ea typeface="Arial"/>
                <a:cs typeface="Arial"/>
              </a:rPr>
              <a:t>Python AST, NumPy, datasets and MTEB</a:t>
            </a:r>
          </a:p>
          <a:p xmlns:a="http://schemas.openxmlformats.org/drawingml/2006/main">
            <a:pPr>
              <a:buNone/>
              <a:defRPr sz="1875" b="0">
                <a:solidFill>
                  <a:srgbClr val="1A183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A1830"/>
                </a:solidFill>
                <a:latin typeface="Arial"/>
                <a:ea typeface="Arial"/>
                <a:cs typeface="Arial"/>
              </a:rPr>
              <a:t>Precomputed embeddings, AST and bounded Git history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6379DE-DD46-44D6-84E2-7EAF217E8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1066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0E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FB47C0-A3D3-46E4-B19F-ADD8605B0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86350"/>
            <a:ext cx="2905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714CB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14CB0"/>
                </a:solidFill>
                <a:latin typeface="Arial"/>
                <a:ea typeface="Arial"/>
                <a:cs typeface="Arial"/>
              </a:rPr>
              <a:t>Packaging and experiments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8B82F5-3A0D-47D6-8B8A-DD6705FBA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086350"/>
            <a:ext cx="7334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A183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A1830"/>
                </a:solidFill>
                <a:latin typeface="Arial"/>
                <a:ea typeface="Arial"/>
                <a:cs typeface="Arial"/>
              </a:rPr>
              <a:t>Docker, GitHub Actions</a:t>
            </a:r>
          </a:p>
          <a:p xmlns:a="http://schemas.openxmlformats.org/drawingml/2006/main">
            <a:pPr>
              <a:buNone/>
              <a:defRPr sz="1875" b="0">
                <a:solidFill>
                  <a:srgbClr val="1A183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A1830"/>
                </a:solidFill>
                <a:latin typeface="Arial"/>
                <a:ea typeface="Arial"/>
                <a:cs typeface="Arial"/>
              </a:rPr>
              <a:t>Evaluated alternatives: BM25, adaptive fusion, reranking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A182BF-A07C-4139-AA9B-99917D339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48375"/>
            <a:ext cx="1066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0E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258264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A7BCB3-AB61-46AE-97AD-D18562BA5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714CB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714CB0"/>
                </a:solidFill>
                <a:latin typeface="Arial"/>
                <a:ea typeface="Arial"/>
                <a:cs typeface="Arial"/>
              </a:rPr>
              <a:t>Impact &amp; Use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2143F3-82D6-43C6-A025-591052BA7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2905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714CB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14CB0"/>
                </a:solidFill>
                <a:latin typeface="Arial"/>
                <a:ea typeface="Arial"/>
                <a:cs typeface="Arial"/>
              </a:rPr>
              <a:t>Code discovery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24F976-8710-4F0A-B213-F56F8EDC4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885950"/>
            <a:ext cx="7334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A183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A1830"/>
                </a:solidFill>
                <a:latin typeface="Arial"/>
                <a:ea typeface="Arial"/>
                <a:cs typeface="Arial"/>
              </a:rPr>
              <a:t>Find existing implementations from a description of behavior.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706358-94D2-42AD-B328-36B269734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33700"/>
            <a:ext cx="1066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0E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26B3AF-CB9E-447E-965C-51F0FD1F7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86100"/>
            <a:ext cx="2905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714CB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14CB0"/>
                </a:solidFill>
                <a:latin typeface="Arial"/>
                <a:ea typeface="Arial"/>
                <a:cs typeface="Arial"/>
              </a:rPr>
              <a:t>Onboarding and inspection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7EC2D7-2726-4358-87DD-B726663E9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086100"/>
            <a:ext cx="7334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A183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A1830"/>
                </a:solidFill>
                <a:latin typeface="Arial"/>
                <a:ea typeface="Arial"/>
                <a:cs typeface="Arial"/>
              </a:rPr>
              <a:t>Inspect imports, calls and source evidence alongside each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7AB8F2-B051-4835-82D5-A3073BBE6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33850"/>
            <a:ext cx="1066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0E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1B8383-2341-4F9F-9EEE-FF5E2A0F2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2905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714CB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14CB0"/>
                </a:solidFill>
                <a:latin typeface="Arial"/>
                <a:ea typeface="Arial"/>
                <a:cs typeface="Arial"/>
              </a:rPr>
              <a:t>Version understanding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C3C180-C485-483A-AE1A-E1E38B3E4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86250"/>
            <a:ext cx="7334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A183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A1830"/>
                </a:solidFill>
                <a:latin typeface="Arial"/>
                <a:ea typeface="Arial"/>
                <a:cs typeface="Arial"/>
              </a:rPr>
              <a:t>Inspect actual Git revisions by commit, path and snapshot.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AA90D5-A43C-4B6D-99FC-B3D55B585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1066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0E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872361-66B6-4655-B579-BEAB13590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29275"/>
            <a:ext cx="1047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714CB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714CB0"/>
                </a:solidFill>
                <a:latin typeface="Arial"/>
                <a:ea typeface="Arial"/>
                <a:cs typeface="Arial"/>
              </a:rPr>
              <a:t>CPU operation with precomputed indexes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8CAE23-53E4-48CE-B7B5-4A587369A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62675"/>
            <a:ext cx="10477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655E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55E79"/>
                </a:solidFill>
                <a:latin typeface="Arial"/>
                <a:ea typeface="Arial"/>
                <a:cs typeface="Arial"/>
              </a:rPr>
              <a:t>Intended benefits. Productivity gains are not measured. Model downloads and cold starts add setup time.</a:t>
            </a:r>
          </a:p>
        </p:txBody>
      </p:sp>
    </p:spTree>
    <p:extLst>
      <p:ext uri="{BB962C8B-B14F-4D97-AF65-F5344CB8AC3E}">
        <p14:creationId xmlns:p14="http://schemas.microsoft.com/office/powerpoint/2010/main" val="14434168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052F05-758A-465F-BE18-C2FB8BE8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714CB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714CB0"/>
                </a:solidFill>
                <a:latin typeface="Arial"/>
                <a:ea typeface="Arial"/>
                <a:cs typeface="Arial"/>
              </a:rPr>
              <a:t>Innovation highlights, results and limitations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C85321-0548-429C-A028-B44F79F10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4382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A183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A1830"/>
                </a:solidFill>
                <a:latin typeface="Arial"/>
                <a:ea typeface="Arial"/>
                <a:cs typeface="Arial"/>
              </a:rPr>
              <a:t>AppsRetrieval test: 3,765 queries / 8,765 documents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D49F4F-9617-4BE0-B4BE-1BBE871B1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383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714CB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14CB0"/>
                </a:solidFill>
                <a:latin typeface="Arial"/>
                <a:ea typeface="Arial"/>
                <a:cs typeface="Arial"/>
              </a:rPr>
              <a:t>NDCG@10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9B2BC3-467B-4C6F-89D3-52BFDB684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5745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A183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A1830"/>
                </a:solidFill>
                <a:latin typeface="Arial"/>
                <a:ea typeface="Arial"/>
                <a:cs typeface="Arial"/>
              </a:rPr>
              <a:t>0.853100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7A0066-E9E6-4446-BD46-EF2961341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0383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714CB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14CB0"/>
                </a:solidFill>
                <a:latin typeface="Arial"/>
                <a:ea typeface="Arial"/>
                <a:cs typeface="Arial"/>
              </a:rPr>
              <a:t>MRR@10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459EE2-2ABD-4152-B9A5-47813B64D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45745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A183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A1830"/>
                </a:solidFill>
                <a:latin typeface="Arial"/>
                <a:ea typeface="Arial"/>
                <a:cs typeface="Arial"/>
              </a:rPr>
              <a:t>0.821803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60FFB3-A665-400D-ACD4-EDA68A712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0383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714CB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14CB0"/>
                </a:solidFill>
                <a:latin typeface="Arial"/>
                <a:ea typeface="Arial"/>
                <a:cs typeface="Arial"/>
              </a:rPr>
              <a:t>Recall@100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A23FF3-AEF5-4470-BE73-F5C5A5D38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45745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A183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A1830"/>
                </a:solidFill>
                <a:latin typeface="Arial"/>
                <a:ea typeface="Arial"/>
                <a:cs typeface="Arial"/>
              </a:rPr>
              <a:t>0.993625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AF8E1E-7C17-4D84-83D8-FF6D894B7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209925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655E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55E79"/>
                </a:solidFill>
                <a:latin typeface="Arial"/>
                <a:ea typeface="Arial"/>
                <a:cs typeface="Arial"/>
              </a:rPr>
              <a:t>Frozen rankings, top 100 per query. Configured live corpus: 8,765 documents.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EDF07E-D65C-404E-9064-BD1FDECBB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724275"/>
            <a:ext cx="10572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714CB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14CB0"/>
                </a:solidFill>
                <a:latin typeface="Arial"/>
                <a:ea typeface="Arial"/>
                <a:cs typeface="Arial"/>
              </a:rPr>
              <a:t>Private validation: 1,000 queries / 5,000 documents</a:t>
            </a:r>
          </a:p>
        </p:txBody>
      </p:sp>
      <p:graphicFrame>
        <p:nvGraphicFramePr>
          <p:cNvPr id="26" name=""/>
          <p:cNvGraphicFramePr/>
          <p:nvPr/>
        </p:nvGraphicFramePr>
        <p:xfrm>
          <a:off xmlns:a="http://schemas.openxmlformats.org/drawingml/2006/main" x="762000" y="4200525"/>
          <a:ext xmlns:a="http://schemas.openxmlformats.org/drawingml/2006/main" cx="10668000" cy="1028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43125"/>
                <a:gridCol w="1905000"/>
                <a:gridCol w="1905000"/>
                <a:gridCol w="2238375"/>
                <a:gridCol w="2476500"/>
              </a:tblGrid>
              <a:tr h="514350">
                <a:tc>
                  <a:txBody>
                    <a:bodyPr lIns="114300" tIns="95250" rIns="114300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NDCG@10</a:t>
                      </a:r>
                    </a:p>
                  </a:txBody>
                  <a:tcPr marL="91440" marR="91440" marT="45720" marB="45720">
                    <a:solidFill>
                      <a:srgbClr val="714CB0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Qwen</a:t>
                      </a:r>
                    </a:p>
                  </a:txBody>
                  <a:tcPr marL="91440" marR="91440" marT="45720" marB="45720">
                    <a:solidFill>
                      <a:srgbClr val="714CB0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Gemma</a:t>
                      </a:r>
                    </a:p>
                  </a:txBody>
                  <a:tcPr marL="91440" marR="91440" marT="45720" marB="45720">
                    <a:solidFill>
                      <a:srgbClr val="714CB0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Dual fusion</a:t>
                      </a:r>
                    </a:p>
                  </a:txBody>
                  <a:tcPr marL="91440" marR="91440" marT="45720" marB="45720">
                    <a:solidFill>
                      <a:srgbClr val="714CB0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Fusion + reranker</a:t>
                      </a:r>
                    </a:p>
                  </a:txBody>
                  <a:tcPr marL="91440" marR="91440" marT="45720" marB="45720">
                    <a:solidFill>
                      <a:srgbClr val="714CB0"/>
                    </a:solidFill>
                  </a:tcPr>
                </a:tc>
              </a:tr>
              <a:tr h="514350">
                <a:tc>
                  <a:txBody>
                    <a:bodyPr lIns="114300" tIns="95250" rIns="114300" bIns="76200"/>
                    <a:lstStyle/>
                    <a:p>
                      <a:r>
                        <a:rPr sz="1725" b="0">
                          <a:solidFill>
                            <a:srgbClr val="1A1830"/>
                          </a:solidFill>
                          <a:latin typeface="Arial"/>
                          <a:ea typeface="Arial"/>
                          <a:cs typeface="Arial"/>
                        </a:rPr>
                        <a:t>Validation</a:t>
                      </a:r>
                    </a:p>
                  </a:txBody>
                  <a:tcPr marL="91440" marR="91440" marT="45720" marB="45720">
                    <a:solidFill>
                      <a:srgbClr val="F1EBF9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725" b="0">
                          <a:solidFill>
                            <a:srgbClr val="1A1830"/>
                          </a:solidFill>
                          <a:latin typeface="Arial"/>
                          <a:ea typeface="Arial"/>
                          <a:cs typeface="Arial"/>
                        </a:rPr>
                        <a:t>0.8215</a:t>
                      </a:r>
                    </a:p>
                  </a:txBody>
                  <a:tcPr marL="91440" marR="91440" marT="45720" marB="45720">
                    <a:solidFill>
                      <a:srgbClr val="F1EBF9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725" b="0">
                          <a:solidFill>
                            <a:srgbClr val="1A1830"/>
                          </a:solidFill>
                          <a:latin typeface="Arial"/>
                          <a:ea typeface="Arial"/>
                          <a:cs typeface="Arial"/>
                        </a:rPr>
                        <a:t>0.8716</a:t>
                      </a:r>
                    </a:p>
                  </a:txBody>
                  <a:tcPr marL="91440" marR="91440" marT="45720" marB="45720">
                    <a:solidFill>
                      <a:srgbClr val="F1EBF9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725" b="0">
                          <a:solidFill>
                            <a:srgbClr val="1A1830"/>
                          </a:solidFill>
                          <a:latin typeface="Arial"/>
                          <a:ea typeface="Arial"/>
                          <a:cs typeface="Arial"/>
                        </a:rPr>
                        <a:t>0.9177</a:t>
                      </a:r>
                    </a:p>
                  </a:txBody>
                  <a:tcPr marL="91440" marR="91440" marT="45720" marB="45720">
                    <a:solidFill>
                      <a:srgbClr val="F1EBF9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725" b="0">
                          <a:solidFill>
                            <a:srgbClr val="1A1830"/>
                          </a:solidFill>
                          <a:latin typeface="Arial"/>
                          <a:ea typeface="Arial"/>
                          <a:cs typeface="Arial"/>
                        </a:rPr>
                        <a:t>0.9204</a:t>
                      </a:r>
                    </a:p>
                  </a:txBody>
                  <a:tcPr marL="91440" marR="91440" marT="45720" marB="45720">
                    <a:solidFill>
                      <a:srgbClr val="F1EBF9"/>
                    </a:solidFill>
                  </a:tcPr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2AE8DB-9C12-4BF5-8E04-A6A33B92F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467350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714CB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14CB0"/>
                </a:solidFill>
                <a:latin typeface="Arial"/>
                <a:ea typeface="Arial"/>
                <a:cs typeface="Arial"/>
              </a:rPr>
              <a:t>Dense fusion remains the default. Reranking did not improve test NDCG.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223508-52AE-4D58-A5F4-CBC51AEB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0769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655E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55E79"/>
                </a:solidFill>
                <a:latin typeface="Arial"/>
                <a:ea typeface="Arial"/>
                <a:cs typeface="Arial"/>
              </a:rPr>
              <a:t>Limits: rule-based routing, Python scope and gated models. Metrics cover dense retrieval only.</a:t>
            </a:r>
          </a:p>
        </p:txBody>
      </p:sp>
    </p:spTree>
    <p:extLst>
      <p:ext uri="{BB962C8B-B14F-4D97-AF65-F5344CB8AC3E}">
        <p14:creationId xmlns:p14="http://schemas.microsoft.com/office/powerpoint/2010/main" val="112970423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C69BCA-4DA9-4A84-A1CF-5F83E17BF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714CB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714CB0"/>
                </a:solidFill>
                <a:latin typeface="Arial"/>
                <a:ea typeface="Arial"/>
                <a:cs typeface="Arial"/>
              </a:rPr>
              <a:t>What’s next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BA86C9-FA65-4DF1-AFFB-1A7DDB71C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8590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714CB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14CB0"/>
                </a:solidFill>
                <a:latin typeface="Arial"/>
                <a:ea typeface="Arial"/>
                <a:cs typeface="Arial"/>
              </a:rPr>
              <a:t>FUTURE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F44FCB-832B-4AEB-9709-297F0F374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2200"/>
            <a:ext cx="2905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714CB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14CB0"/>
                </a:solidFill>
                <a:latin typeface="Arial"/>
                <a:ea typeface="Arial"/>
                <a:cs typeface="Arial"/>
              </a:rPr>
              <a:t>Broader code support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BD70E0-55BF-47B2-A2D3-1A5C0105C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62200"/>
            <a:ext cx="7334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A183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A1830"/>
                </a:solidFill>
                <a:latin typeface="Arial"/>
                <a:ea typeface="Arial"/>
                <a:cs typeface="Arial"/>
              </a:rPr>
              <a:t>Extend beyond Python and evaluate larger repository histories.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AFEFAA-5EB4-4DC8-B03E-1104B8FA0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67100"/>
            <a:ext cx="1066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0E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6F3948-E249-47E6-BE86-1F8BE9F7E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19500"/>
            <a:ext cx="2905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714CB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14CB0"/>
                </a:solidFill>
                <a:latin typeface="Arial"/>
                <a:ea typeface="Arial"/>
                <a:cs typeface="Arial"/>
              </a:rPr>
              <a:t>Retrieval evaluation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CDC7CA-FF64-4A33-B530-B8EB6F6F0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19500"/>
            <a:ext cx="7334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A183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A1830"/>
                </a:solidFill>
                <a:latin typeface="Arial"/>
                <a:ea typeface="Arial"/>
                <a:cs typeface="Arial"/>
              </a:rPr>
              <a:t>Evaluate routing and structural search on a separate held-out query set.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579928-72D4-42E9-A5FD-B0FA88818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24400"/>
            <a:ext cx="1066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0E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126110-9619-4E39-B25D-1B5F2DDC8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76800"/>
            <a:ext cx="2905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714CB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14CB0"/>
                </a:solidFill>
                <a:latin typeface="Arial"/>
                <a:ea typeface="Arial"/>
                <a:cs typeface="Arial"/>
              </a:rPr>
              <a:t>Fresh Windows setup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132733-8D1A-4B8D-BD76-96FBB878A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76800"/>
            <a:ext cx="7334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A183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A1830"/>
                </a:solidFill>
                <a:latin typeface="Arial"/>
                <a:ea typeface="Arial"/>
                <a:cs typeface="Arial"/>
              </a:rPr>
              <a:t>Test model downloads and access setup from an empty Windows cache.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4EE004-2EF6-4AD3-886A-804227C30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81700"/>
            <a:ext cx="1066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0E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85877537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85B091-040D-4254-95D9-7E5637944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714CB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714CB0"/>
                </a:solidFill>
                <a:latin typeface="Arial"/>
                <a:ea typeface="Arial"/>
                <a:cs typeface="Arial"/>
              </a:rPr>
              <a:t>Brownie points slide (differentiation)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E90514-4CE3-493A-A108-758D7C2CF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2905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714CB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14CB0"/>
                </a:solidFill>
                <a:latin typeface="Arial"/>
                <a:ea typeface="Arial"/>
                <a:cs typeface="Arial"/>
              </a:rPr>
              <a:t>Evidence-driven choices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5127D4-4F7D-4263-A132-EBA73D219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714500"/>
            <a:ext cx="7334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A183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A1830"/>
                </a:solidFill>
                <a:latin typeface="Arial"/>
                <a:ea typeface="Arial"/>
                <a:cs typeface="Arial"/>
              </a:rPr>
              <a:t>Compared retrieval variants and retained frozen dual fusion with reranking off by default.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25AEDD-1970-4143-9C13-E89222B6B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86050"/>
            <a:ext cx="1066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0E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908D04-A1E5-4F32-B425-ABBE10C8F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38450"/>
            <a:ext cx="2905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714CB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14CB0"/>
                </a:solidFill>
                <a:latin typeface="Arial"/>
                <a:ea typeface="Arial"/>
                <a:cs typeface="Arial"/>
              </a:rPr>
              <a:t>CPU execution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A80862-F1E4-40B6-913F-0CC03F3D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38450"/>
            <a:ext cx="7334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A183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A1830"/>
                </a:solidFill>
                <a:latin typeface="Arial"/>
                <a:ea typeface="Arial"/>
                <a:cs typeface="Arial"/>
              </a:rPr>
              <a:t>Precomputed indexes, lazy model loading and shared Gemma reuse.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3C888E-680A-4B14-AC94-DE37F096C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0E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2DD5C8-46C8-4936-9CC1-B6F340B1E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62400"/>
            <a:ext cx="2905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714CB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14CB0"/>
                </a:solidFill>
                <a:latin typeface="Arial"/>
                <a:ea typeface="Arial"/>
                <a:cs typeface="Arial"/>
              </a:rPr>
              <a:t>Inspectable results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405273-B045-4FF4-97A2-4B206CED7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962400"/>
            <a:ext cx="7334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A183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A1830"/>
                </a:solidFill>
                <a:latin typeface="Arial"/>
                <a:ea typeface="Arial"/>
                <a:cs typeface="Arial"/>
              </a:rPr>
              <a:t>Source-line evidence, real Git lineage and snapshot filters.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8F5536-146B-448C-9DA5-4A74344F8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1066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0E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A7A931-785A-4D9C-8B2C-E344B704D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86350"/>
            <a:ext cx="2905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714CB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14CB0"/>
                </a:solidFill>
                <a:latin typeface="Arial"/>
                <a:ea typeface="Arial"/>
                <a:cs typeface="Arial"/>
              </a:rPr>
              <a:t>Verification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A34741-5CCA-4375-88EC-A8D1110B9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086350"/>
            <a:ext cx="7334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A183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A1830"/>
                </a:solidFill>
                <a:latin typeface="Arial"/>
                <a:ea typeface="Arial"/>
                <a:cs typeface="Arial"/>
              </a:rPr>
              <a:t>Windows CPU: 23/23 tests and all four routes passed. Python 3.11; cached models.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CC3660-A27D-4C14-BB00-ECA22F043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66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0E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33772615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FBD584-4280-486E-9E05-DADC63301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714CB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714CB0"/>
                </a:solidFill>
                <a:latin typeface="Arial"/>
                <a:ea typeface="Arial"/>
                <a:cs typeface="Arial"/>
              </a:rPr>
              <a:t>Checklist - Updated on Public GitHub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762000" y="1619250"/>
          <a:ext xmlns:a="http://schemas.openxmlformats.org/drawingml/2006/main" cx="10668000" cy="3762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572000"/>
                <a:gridCol w="6096000"/>
              </a:tblGrid>
              <a:tr h="470297">
                <a:tc>
                  <a:txBody>
                    <a:bodyPr lIns="114300" tIns="95250" rIns="114300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Required item</a:t>
                      </a:r>
                    </a:p>
                  </a:txBody>
                  <a:tcPr marL="91440" marR="91440" marT="45720" marB="45720">
                    <a:solidFill>
                      <a:srgbClr val="714CB0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Current status</a:t>
                      </a:r>
                    </a:p>
                  </a:txBody>
                  <a:tcPr marL="91440" marR="91440" marT="45720" marB="45720">
                    <a:solidFill>
                      <a:srgbClr val="714CB0"/>
                    </a:solidFill>
                  </a:tcPr>
                </a:tc>
              </a:tr>
              <a:tr h="470297">
                <a:tc>
                  <a:txBody>
                    <a:bodyPr lIns="114300" tIns="95250" rIns="114300" bIns="76200"/>
                    <a:lstStyle/>
                    <a:p>
                      <a:r>
                        <a:rPr sz="1725" b="0">
                          <a:solidFill>
                            <a:srgbClr val="1A1830"/>
                          </a:solidFill>
                          <a:latin typeface="Arial"/>
                          <a:ea typeface="Arial"/>
                          <a:cs typeface="Arial"/>
                        </a:rPr>
                        <a:t>Source code + requirements</a:t>
                      </a:r>
                    </a:p>
                  </a:txBody>
                  <a:tcPr marL="91440" marR="91440" marT="45720" marB="45720">
                    <a:solidFill>
                      <a:srgbClr val="F1EBF9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725" b="0">
                          <a:solidFill>
                            <a:srgbClr val="1A1830"/>
                          </a:solidFill>
                          <a:latin typeface="Arial"/>
                          <a:ea typeface="Arial"/>
                          <a:cs typeface="Arial"/>
                        </a:rPr>
                        <a:t>Source, requirements and verified runtime indexes</a:t>
                      </a:r>
                    </a:p>
                  </a:txBody>
                  <a:tcPr marL="91440" marR="91440" marT="45720" marB="45720">
                    <a:solidFill>
                      <a:srgbClr val="F1EBF9"/>
                    </a:solidFill>
                  </a:tcPr>
                </a:tc>
              </a:tr>
              <a:tr h="470297">
                <a:tc>
                  <a:txBody>
                    <a:bodyPr lIns="114300" tIns="95250" rIns="114300" bIns="76200"/>
                    <a:lstStyle/>
                    <a:p>
                      <a:r>
                        <a:rPr sz="1725" b="0">
                          <a:solidFill>
                            <a:srgbClr val="1A1830"/>
                          </a:solidFill>
                          <a:latin typeface="Arial"/>
                          <a:ea typeface="Arial"/>
                          <a:cs typeface="Arial"/>
                        </a:rPr>
                        <a:t>README + Docker setup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725" b="0">
                          <a:solidFill>
                            <a:srgbClr val="1A1830"/>
                          </a:solidFill>
                          <a:latin typeface="Arial"/>
                          <a:ea typeface="Arial"/>
                          <a:cs typeface="Arial"/>
                        </a:rPr>
                        <a:t>Setup, Docker and verification instructions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0297">
                <a:tc>
                  <a:txBody>
                    <a:bodyPr lIns="114300" tIns="95250" rIns="114300" bIns="76200"/>
                    <a:lstStyle/>
                    <a:p>
                      <a:r>
                        <a:rPr sz="1725" b="0">
                          <a:solidFill>
                            <a:srgbClr val="1A1830"/>
                          </a:solidFill>
                          <a:latin typeface="Arial"/>
                          <a:ea typeface="Arial"/>
                          <a:cs typeface="Arial"/>
                        </a:rPr>
                        <a:t>Presentation</a:t>
                      </a:r>
                    </a:p>
                  </a:txBody>
                  <a:tcPr marL="91440" marR="91440" marT="45720" marB="45720">
                    <a:solidFill>
                      <a:srgbClr val="F1EBF9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725" b="0">
                          <a:solidFill>
                            <a:srgbClr val="1A1830"/>
                          </a:solidFill>
                          <a:latin typeface="Arial"/>
                          <a:ea typeface="Arial"/>
                          <a:cs typeface="Arial"/>
                        </a:rPr>
                        <a:t>Final presentation included in repository</a:t>
                      </a:r>
                    </a:p>
                  </a:txBody>
                  <a:tcPr marL="91440" marR="91440" marT="45720" marB="45720">
                    <a:solidFill>
                      <a:srgbClr val="F1EBF9"/>
                    </a:solidFill>
                  </a:tcPr>
                </a:tc>
              </a:tr>
              <a:tr h="470297">
                <a:tc>
                  <a:txBody>
                    <a:bodyPr lIns="114300" tIns="95250" rIns="114300" bIns="76200"/>
                    <a:lstStyle/>
                    <a:p>
                      <a:r>
                        <a:rPr sz="1725" b="0">
                          <a:solidFill>
                            <a:srgbClr val="1A1830"/>
                          </a:solidFill>
                          <a:latin typeface="Arial"/>
                          <a:ea typeface="Arial"/>
                          <a:cs typeface="Arial"/>
                        </a:rPr>
                        <a:t>Demo video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725" b="0">
                          <a:solidFill>
                            <a:srgbClr val="1A1830"/>
                          </a:solidFill>
                          <a:latin typeface="Arial"/>
                          <a:ea typeface="Arial"/>
                          <a:cs typeface="Arial"/>
                        </a:rPr>
                        <a:t>4:49 demo linked in README and presentation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0297">
                <a:tc>
                  <a:txBody>
                    <a:bodyPr lIns="114300" tIns="95250" rIns="114300" bIns="76200"/>
                    <a:lstStyle/>
                    <a:p>
                      <a:r>
                        <a:rPr sz="1725" b="0">
                          <a:solidFill>
                            <a:srgbClr val="1A1830"/>
                          </a:solidFill>
                          <a:latin typeface="Arial"/>
                          <a:ea typeface="Arial"/>
                          <a:cs typeface="Arial"/>
                        </a:rPr>
                        <a:t>AI disclosure</a:t>
                      </a:r>
                    </a:p>
                  </a:txBody>
                  <a:tcPr marL="91440" marR="91440" marT="45720" marB="45720">
                    <a:solidFill>
                      <a:srgbClr val="F1EBF9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725" b="0">
                          <a:solidFill>
                            <a:srgbClr val="1A1830"/>
                          </a:solidFill>
                          <a:latin typeface="Arial"/>
                          <a:ea typeface="Arial"/>
                          <a:cs typeface="Arial"/>
                        </a:rPr>
                        <a:t>Signed disclosure included in DOCX and PDF</a:t>
                      </a:r>
                    </a:p>
                  </a:txBody>
                  <a:tcPr marL="91440" marR="91440" marT="45720" marB="45720">
                    <a:solidFill>
                      <a:srgbClr val="F1EBF9"/>
                    </a:solidFill>
                  </a:tcPr>
                </a:tc>
              </a:tr>
              <a:tr h="470297">
                <a:tc>
                  <a:txBody>
                    <a:bodyPr lIns="114300" tIns="95250" rIns="114300" bIns="76200"/>
                    <a:lstStyle/>
                    <a:p>
                      <a:r>
                        <a:rPr sz="1725" b="0">
                          <a:solidFill>
                            <a:srgbClr val="1A1830"/>
                          </a:solidFill>
                          <a:latin typeface="Arial"/>
                          <a:ea typeface="Arial"/>
                          <a:cs typeface="Arial"/>
                        </a:rPr>
                        <a:t>Final tag + result release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725" b="0">
                          <a:solidFill>
                            <a:srgbClr val="1A1830"/>
                          </a:solidFill>
                          <a:latin typeface="Arial"/>
                          <a:ea typeface="Arial"/>
                          <a:cs typeface="Arial"/>
                        </a:rPr>
                        <a:t>Required tag identifies the final submission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0297">
                <a:tc>
                  <a:txBody>
                    <a:bodyPr lIns="114300" tIns="95250" rIns="114300" bIns="76200"/>
                    <a:lstStyle/>
                    <a:p>
                      <a:r>
                        <a:rPr sz="1725" b="0">
                          <a:solidFill>
                            <a:srgbClr val="1A1830"/>
                          </a:solidFill>
                          <a:latin typeface="Arial"/>
                          <a:ea typeface="Arial"/>
                          <a:cs typeface="Arial"/>
                        </a:rPr>
                        <a:t>APK / SDK</a:t>
                      </a:r>
                    </a:p>
                  </a:txBody>
                  <a:tcPr marL="91440" marR="91440" marT="45720" marB="45720">
                    <a:solidFill>
                      <a:srgbClr val="F1EBF9"/>
                    </a:solidFill>
                  </a:tcPr>
                </a:tc>
                <a:tc>
                  <a:txBody>
                    <a:bodyPr lIns="114300" tIns="95250" rIns="114300" bIns="76200"/>
                    <a:lstStyle/>
                    <a:p>
                      <a:r>
                        <a:rPr sz="1725" b="0">
                          <a:solidFill>
                            <a:srgbClr val="1A1830"/>
                          </a:solidFill>
                          <a:latin typeface="Arial"/>
                          <a:ea typeface="Arial"/>
                          <a:cs typeface="Arial"/>
                        </a:rPr>
                        <a:t>Not applicable: browser-based Python app</a:t>
                      </a:r>
                    </a:p>
                  </a:txBody>
                  <a:tcPr marL="91440" marR="91440" marT="45720" marB="45720">
                    <a:solidFill>
                      <a:srgbClr val="F1EBF9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2A2F70-2C17-4144-B730-32CEBA3A5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629275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714CB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714CB0"/>
                </a:solidFill>
                <a:latin typeface="Arial"/>
                <a:ea typeface="Arial"/>
                <a:cs typeface="Arial"/>
              </a:rPr>
              <a:t>Required tag: PRISM_GENAI_HACKATHON_Y2026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F76FB8-F238-4B31-A0C5-BE167073B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00775"/>
            <a:ext cx="1057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655E7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55E79"/>
                </a:solidFill>
                <a:latin typeface="Arial"/>
                <a:ea typeface="Arial"/>
                <a:cs typeface="Arial"/>
              </a:rPr>
              <a:t>Final submission package · Updated 4 October 2026</a:t>
            </a:r>
          </a:p>
        </p:txBody>
      </p:sp>
    </p:spTree>
    <p:extLst>
      <p:ext uri="{BB962C8B-B14F-4D97-AF65-F5344CB8AC3E}">
        <p14:creationId xmlns:p14="http://schemas.microsoft.com/office/powerpoint/2010/main" val="49048690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52E3AD-F9CE-4F63-8515-0250E847A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191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714CB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4CB0"/>
                </a:solidFill>
                <a:latin typeface="Arial"/>
                <a:ea typeface="Arial"/>
                <a:cs typeface="Arial"/>
              </a:rPr>
              <a:t>PRISM Agentic Code Intelligence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0938F7-AEB7-4183-B30D-9F1CE36A2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76400"/>
            <a:ext cx="10477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A183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A1830"/>
                </a:solidFill>
                <a:latin typeface="Arial"/>
                <a:ea typeface="Arial"/>
                <a:cs typeface="Arial"/>
              </a:rPr>
              <a:t>Theme 1: Agentic Code Intelligence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7B0BC3-B2CC-4429-91BC-7D2B352EE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714CB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14CB0"/>
                </a:solidFill>
                <a:latin typeface="Arial"/>
                <a:ea typeface="Arial"/>
                <a:cs typeface="Arial"/>
              </a:rPr>
              <a:t>SRM_Team Ctrl Alt Elite_1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A1B834-D1F9-45D8-A412-6E975689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622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A18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A1830"/>
                </a:solidFill>
                <a:latin typeface="Arial"/>
                <a:ea typeface="Arial"/>
                <a:cs typeface="Arial"/>
              </a:rPr>
              <a:t>SRM Institute of Science and Technology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E50D17-1975-41C6-87CD-459353461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57625"/>
            <a:ext cx="1047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875" b="1">
                <a:solidFill>
                  <a:srgbClr val="1A1830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A1830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FD719F-5851-49A3-A4BD-AD1152822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1435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714CB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14CB0"/>
                </a:solidFill>
                <a:latin typeface="Arial"/>
                <a:ea typeface="Arial"/>
                <a:cs typeface="Arial"/>
                <a:hlinkClick xmlns:r="http://schemas.openxmlformats.org/officeDocument/2006/relationships" r:id="Raf0dbb0a0524448f"/>
              </a:rPr>
              <a:t>View the public GitHub repository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5949AD-CC03-41B0-AEFB-AE0CDD2A1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629275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714CB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14CB0"/>
                </a:solidFill>
                <a:latin typeface="Arial"/>
                <a:ea typeface="Arial"/>
                <a:cs typeface="Arial"/>
                <a:hlinkClick xmlns:r="http://schemas.openxmlformats.org/officeDocument/2006/relationships" r:id="R4addf0c14e6a4291"/>
              </a:rPr>
              <a:t>Watch our 4:49 demo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39B08D-3508-4E92-B4EE-E630C4D73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37222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55E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5E79"/>
                </a:solidFill>
                <a:latin typeface="Arial"/>
                <a:ea typeface="Arial"/>
                <a:cs typeface="Arial"/>
              </a:rPr>
              <a:t>Organised by the Language AI Team and the PRISM Team, Samsung R&amp;D Institute India</a:t>
            </a:r>
          </a:p>
        </p:txBody>
      </p:sp>
    </p:spTree>
    <p:extLst>
      <p:ext uri="{BB962C8B-B14F-4D97-AF65-F5344CB8AC3E}">
        <p14:creationId xmlns:p14="http://schemas.microsoft.com/office/powerpoint/2010/main" val="1959127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2026-10-04T07:14:37.0710000Z</dcterms:created>
  <dcterms:modified xsi:type="dcterms:W3CDTF">2026-10-04T07:14:37.0710000Z</dcterms:modified>
</coreProperties>
</file>