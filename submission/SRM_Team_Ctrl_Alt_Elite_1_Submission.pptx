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f5f738cfd94fe3" /><Relationship Type="http://schemas.openxmlformats.org/officeDocument/2006/relationships/extended-properties" Target="/docProps/app.xml" Id="R78fdd71e6be6418c" /><Relationship Type="http://schemas.openxmlformats.org/officeDocument/2006/relationships/officeDocument" Target="/ppt/presentation.xml" Id="Rf369d952f6b443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190352c49b4686"/>
  </p:sldMasterIdLst>
  <p:notesMasterIdLst>
    <p:notesMasterId xmlns:r="http://schemas.openxmlformats.org/officeDocument/2006/relationships" r:id="Rcae7648eef2e4588"/>
  </p:notesMasterIdLst>
  <p:sldIdLst>
    <p:sldId xmlns:r="http://schemas.openxmlformats.org/officeDocument/2006/relationships" id="256" r:id="Ra90475ce9b4c4ef3"/>
    <p:sldId xmlns:r="http://schemas.openxmlformats.org/officeDocument/2006/relationships" id="257" r:id="R2a158c7500744a6e"/>
    <p:sldId xmlns:r="http://schemas.openxmlformats.org/officeDocument/2006/relationships" id="258" r:id="R3673c8b97dbf4870"/>
    <p:sldId xmlns:r="http://schemas.openxmlformats.org/officeDocument/2006/relationships" id="259" r:id="R69a9ccc02ac04337"/>
    <p:sldId xmlns:r="http://schemas.openxmlformats.org/officeDocument/2006/relationships" id="260" r:id="Rdd68b4c930f14481"/>
    <p:sldId xmlns:r="http://schemas.openxmlformats.org/officeDocument/2006/relationships" id="261" r:id="R5dfae220155e4da6"/>
    <p:sldId xmlns:r="http://schemas.openxmlformats.org/officeDocument/2006/relationships" id="262" r:id="R50f45ef7c7064665"/>
    <p:sldId xmlns:r="http://schemas.openxmlformats.org/officeDocument/2006/relationships" id="263" r:id="R8c31251628da4316"/>
    <p:sldId xmlns:r="http://schemas.openxmlformats.org/officeDocument/2006/relationships" id="264" r:id="Rc929aaa0c031445b"/>
    <p:sldId xmlns:r="http://schemas.openxmlformats.org/officeDocument/2006/relationships" id="265" r:id="R08608fc5df6c4ad3"/>
    <p:sldId xmlns:r="http://schemas.openxmlformats.org/officeDocument/2006/relationships" id="266" r:id="Ra60d909dd36c40b7"/>
    <p:sldId xmlns:r="http://schemas.openxmlformats.org/officeDocument/2006/relationships" id="267" r:id="Rf647e1018d4b43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2a2e0509854fb2" /><Relationship Type="http://schemas.openxmlformats.org/officeDocument/2006/relationships/slideMaster" Target="/ppt/slideMasters/slideMaster1.xml" Id="R0e190352c49b4686" /><Relationship Type="http://schemas.openxmlformats.org/officeDocument/2006/relationships/notesMaster" Target="/ppt/notesMasters/notesMaster1.xml" Id="Rcae7648eef2e4588" /><Relationship Type="http://schemas.openxmlformats.org/officeDocument/2006/relationships/presProps" Target="/ppt/presProps.xml" Id="Rdfc02977209b4063" /><Relationship Type="http://schemas.openxmlformats.org/officeDocument/2006/relationships/tableStyles" Target="/ppt/tableStyles.xml" Id="Re80a194d523f4983" /><Relationship Type="http://schemas.openxmlformats.org/officeDocument/2006/relationships/slide" Target="/ppt/slides/slide1.xml" Id="Ra90475ce9b4c4ef3" /><Relationship Type="http://schemas.openxmlformats.org/officeDocument/2006/relationships/slide" Target="/ppt/slides/slide2.xml" Id="R2a158c7500744a6e" /><Relationship Type="http://schemas.openxmlformats.org/officeDocument/2006/relationships/slide" Target="/ppt/slides/slide3.xml" Id="R3673c8b97dbf4870" /><Relationship Type="http://schemas.openxmlformats.org/officeDocument/2006/relationships/slide" Target="/ppt/slides/slide4.xml" Id="R69a9ccc02ac04337" /><Relationship Type="http://schemas.openxmlformats.org/officeDocument/2006/relationships/slide" Target="/ppt/slides/slide5.xml" Id="Rdd68b4c930f14481" /><Relationship Type="http://schemas.openxmlformats.org/officeDocument/2006/relationships/slide" Target="/ppt/slides/slide6.xml" Id="R5dfae220155e4da6" /><Relationship Type="http://schemas.openxmlformats.org/officeDocument/2006/relationships/slide" Target="/ppt/slides/slide7.xml" Id="R50f45ef7c7064665" /><Relationship Type="http://schemas.openxmlformats.org/officeDocument/2006/relationships/slide" Target="/ppt/slides/slide8.xml" Id="R8c31251628da4316" /><Relationship Type="http://schemas.openxmlformats.org/officeDocument/2006/relationships/slide" Target="/ppt/slides/slide9.xml" Id="Rc929aaa0c031445b" /><Relationship Type="http://schemas.openxmlformats.org/officeDocument/2006/relationships/slide" Target="/ppt/slides/slide10.xml" Id="R08608fc5df6c4ad3" /><Relationship Type="http://schemas.openxmlformats.org/officeDocument/2006/relationships/slide" Target="/ppt/slides/slide11.xml" Id="Ra60d909dd36c40b7" /><Relationship Type="http://schemas.openxmlformats.org/officeDocument/2006/relationships/slide" Target="/ppt/slides/slide12.xml" Id="Rf647e1018d4b43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e9631f062647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47f8ea413d458b" /><Relationship Type="http://schemas.openxmlformats.org/officeDocument/2006/relationships/notesMaster" Target="/ppt/notesMasters/notesMaster1.xml" Id="Rb76e0d102c3340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40c3ae96104370" /><Relationship Type="http://schemas.openxmlformats.org/officeDocument/2006/relationships/notesMaster" Target="/ppt/notesMasters/notesMaster1.xml" Id="R192631a4f7eb42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752cfddb2c4779" /><Relationship Type="http://schemas.openxmlformats.org/officeDocument/2006/relationships/notesMaster" Target="/ppt/notesMasters/notesMaster1.xml" Id="R47ead4eaf0ac45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bbd2046b5e456f" /><Relationship Type="http://schemas.openxmlformats.org/officeDocument/2006/relationships/notesMaster" Target="/ppt/notesMasters/notesMaster1.xml" Id="Rf13199b2391a48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ed0dd434f249fd" /><Relationship Type="http://schemas.openxmlformats.org/officeDocument/2006/relationships/notesMaster" Target="/ppt/notesMasters/notesMaster1.xml" Id="Rcb41e6f7cd0c4a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190c5c62ad4028" /><Relationship Type="http://schemas.openxmlformats.org/officeDocument/2006/relationships/notesMaster" Target="/ppt/notesMasters/notesMaster1.xml" Id="R513cb1274230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bdf3bc4eae4a73" /><Relationship Type="http://schemas.openxmlformats.org/officeDocument/2006/relationships/notesMaster" Target="/ppt/notesMasters/notesMaster1.xml" Id="R662bcd41d0fb48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8a8b5bad914a1a" /><Relationship Type="http://schemas.openxmlformats.org/officeDocument/2006/relationships/notesMaster" Target="/ppt/notesMasters/notesMaster1.xml" Id="R9d4e4a99a1ff428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382969ab4784f45" /><Relationship Type="http://schemas.openxmlformats.org/officeDocument/2006/relationships/notesMaster" Target="/ppt/notesMasters/notesMaster1.xml" Id="R9ffa03bf6a2840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aa5b72547b4bb7" /><Relationship Type="http://schemas.openxmlformats.org/officeDocument/2006/relationships/notesMaster" Target="/ppt/notesMasters/notesMaster1.xml" Id="R0012717d307340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9bfa8042674d62" /><Relationship Type="http://schemas.openxmlformats.org/officeDocument/2006/relationships/notesMaster" Target="/ppt/notesMasters/notesMaster1.xml" Id="Rf60af82b6d21454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67ed1e471e464b" /><Relationship Type="http://schemas.openxmlformats.org/officeDocument/2006/relationships/notesMaster" Target="/ppt/notesMasters/notesMaster1.xml" Id="Rd9905f45335045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name formatted per final form: CollegeName_Teamname_ThemeNo. Team lead selected Team Ctrl Alt Elite; original registration spelling has not been independently confirmed. Members and emails supplied by the team lead.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problem: efficient relevant retrieval by behavior, usage, structure and versions. Precomputed embeddings avoid re-encoding the corpus per query. No measured developer-productivity gain claimed.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Revised third row to avoid assigning missing version context to history tools. These are conceptual differences, not empirical competitor results.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 Final video URL supplied by the team; duration confirmed as 4 minutes 49 seconds. Screenshot shows the current local build.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 Frozen submission scores retained. Separate corrected CPU evaluation: NDCG@10 0.853220; MRR@10 0.8220444149328615; MRR@100 0.8243958749403522; Recall@10 0.94927 versus frozen 0.94953519. Small numerical changes are not a new algorithmic improvement. Dense retrieval only; private validation remains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 Windows models already cached; no fresh download or full benchmark repeated. Current Linux container and Windows regression status is recorded in GitHub Actions.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sources: README.md; docs/review/windows-recheck.json; docs/review/mteb-uniform-result.json; docs/windows-review.md. Verified candidate SHA256 cb77efdbc0230b0342b6285770b687a5af856170776940559a0f079f9a002b72. Publication authorized on 4 October 2026; the release tag identifies the final package. Final video URL supplied by the team; duration confirmed as 4 minutes 49 seconds. Screenshot shows the current local build.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694c224cac41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2e77c16c9a4afb" /><Relationship Type="http://schemas.openxmlformats.org/officeDocument/2006/relationships/slideLayout" Target="/ppt/slideLayouts/slideLayout1.xml" Id="Rb08826be3b074a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8826be3b074a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c1ca8f33c43c8" /><Relationship Type="http://schemas.openxmlformats.org/officeDocument/2006/relationships/image" Target="/ppt/media/image.png" Id="Rc42c65363a994a21" /><Relationship Type="http://schemas.openxmlformats.org/officeDocument/2006/relationships/hyperlink" Target="https://github.com/SinghDevansh-2006/prism-code-intelligence" TargetMode="External" Id="R24879dcc8de64e03" /><Relationship Type="http://schemas.openxmlformats.org/officeDocument/2006/relationships/notesSlide" Target="/ppt/notesSlides/notesSlide1.xml" Id="R647e13d7823b42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4c407abf94abe" /><Relationship Type="http://schemas.openxmlformats.org/officeDocument/2006/relationships/notesSlide" Target="/ppt/notesSlides/notesSlide2.xml" Id="R89d0f8c018dd4b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100ac6d124951" /><Relationship Type="http://schemas.openxmlformats.org/officeDocument/2006/relationships/notesSlide" Target="/ppt/notesSlides/notesSlide3.xml" Id="Rec4372c8bb9e42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647bcf9e94377" /><Relationship Type="http://schemas.openxmlformats.org/officeDocument/2006/relationships/notesSlide" Target="/ppt/notesSlides/notesSlide4.xml" Id="R2dc7058fba8d40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c81b6e4484786" /><Relationship Type="http://schemas.openxmlformats.org/officeDocument/2006/relationships/image" Target="/ppt/media/image.jpeg" Id="Re16bd06eb5ad4649" /><Relationship Type="http://schemas.openxmlformats.org/officeDocument/2006/relationships/hyperlink" Target="https://drive.google.com/file/d/1Xe8Nz8a73yBgCInpAZProjbVSwcQ25Yj/view?usp=sharing" TargetMode="External" Id="Rd4e57ce2eab84f44" /><Relationship Type="http://schemas.openxmlformats.org/officeDocument/2006/relationships/notesSlide" Target="/ppt/notesSlides/notesSlide5.xml" Id="R3f9a6639eee84d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9212047cd4a91" /><Relationship Type="http://schemas.openxmlformats.org/officeDocument/2006/relationships/notesSlide" Target="/ppt/notesSlides/notesSlide6.xml" Id="R70cca0218f5c40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015ff42b24171" /><Relationship Type="http://schemas.openxmlformats.org/officeDocument/2006/relationships/notesSlide" Target="/ppt/notesSlides/notesSlide7.xml" Id="R9b3fdc7bdba74c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7b7b316c64472" /><Relationship Type="http://schemas.openxmlformats.org/officeDocument/2006/relationships/notesSlide" Target="/ppt/notesSlides/notesSlide8.xml" Id="R4dde973f22df4e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eb7a4104cc47fc" /><Relationship Type="http://schemas.openxmlformats.org/officeDocument/2006/relationships/notesSlide" Target="/ppt/notesSlides/notesSlide9.xml" Id="Reb0f824a974e49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e88cca60e42fb" /><Relationship Type="http://schemas.openxmlformats.org/officeDocument/2006/relationships/notesSlide" Target="/ppt/notesSlides/notesSlide10.xml" Id="Ra49a8b00bc2a4c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bad49674d46df" /><Relationship Type="http://schemas.openxmlformats.org/officeDocument/2006/relationships/notesSlide" Target="/ppt/notesSlides/notesSlide11.xml" Id="R71be1ca579204e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6bcb0cbc541dc" /><Relationship Type="http://schemas.openxmlformats.org/officeDocument/2006/relationships/hyperlink" Target="https://github.com/SinghDevansh-2006/prism-code-intelligence" TargetMode="External" Id="Raf0dbb0a0524448f" /><Relationship Type="http://schemas.openxmlformats.org/officeDocument/2006/relationships/hyperlink" Target="https://drive.google.com/file/d/1Xe8Nz8a73yBgCInpAZProjbVSwcQ25Yj/view?usp=sharing" TargetMode="External" Id="R4addf0c14e6a4291" /><Relationship Type="http://schemas.openxmlformats.org/officeDocument/2006/relationships/notesSlide" Target="/ppt/notesSlides/notesSlide12.xml" Id="Rf54a4e7ee4c94a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3FD59-8DE2-41C3-B3D7-1E047C16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SAMSUNG PRISM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7B746-2352-4DF6-A407-380840DA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Generative AI Hackathon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F140E-7632-4E9A-A7CD-7855B857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1927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5E79"/>
                </a:solidFill>
                <a:latin typeface="Arial"/>
                <a:ea typeface="Arial"/>
                <a:cs typeface="Arial"/>
              </a:rPr>
              <a:t>3rd Edition 2026–27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22D60-5DF8-48B3-9867-20D794ED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43175"/>
            <a:ext cx="7667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PRISM Agentic Code Intelligence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E58D2-CD5F-4553-B480-FF76A350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Theme 1: Agentic Code Intelligence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8B5EDA-7F1D-4CF5-B56E-5D3770C5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SRM_Team Ctrl Alt Elite_1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755A9-3FD3-44A0-B5AF-3BB475D3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7477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SRM Institute of Science and Technology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83EB64-6557-4F39-B477-9FCB07BE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76775"/>
            <a:ext cx="80962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Devansh Singh (Team Lead)  ·  ds8467@srmist.edu.in</a:t>
            </a:r>
          </a:p>
          <a:p xmlns:a="http://schemas.openxmlformats.org/drawingml/2006/main">
            <a:pPr>
              <a:buNone/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Sankalp Kumar  ·  sk4156@srmist.edu.in</a:t>
            </a:r>
          </a:p>
          <a:p xmlns:a="http://schemas.openxmlformats.org/drawingml/2006/main">
            <a:pPr>
              <a:buNone/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Ved Kumar  ·  vk9977@srmist.edu.in</a:t>
            </a:r>
          </a:p>
          <a:p xmlns:a="http://schemas.openxmlformats.org/drawingml/2006/main">
            <a:pPr>
              <a:buNone/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Shreel Singh  ·  ss9735@srmist.edu.in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c65363a994a21"/>
          <a:stretch xmlns:a="http://schemas.openxmlformats.org/drawingml/2006/main"/>
        </p:blipFill>
        <p:spPr>
          <a:xfrm xmlns:a="http://schemas.openxmlformats.org/drawingml/2006/main">
            <a:off x="8572500" y="1859475"/>
            <a:ext cx="2905125" cy="296760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8E06B-5755-4C80-A0CF-46F26406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62675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24879dcc8de64e03"/>
              </a:rPr>
              <a:t>Public GitHub repository</a:t>
            </a:r>
          </a:p>
        </p:txBody>
      </p:sp>
    </p:spTree>
    <p:extLst>
      <p:ext uri="{BB962C8B-B14F-4D97-AF65-F5344CB8AC3E}">
        <p14:creationId xmlns:p14="http://schemas.microsoft.com/office/powerpoint/2010/main" val="12347253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E22B65-ADAF-40EC-BF08-E1099C7C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Theme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BD482-8B64-4712-B442-C295D84B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716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Relevant code without inspecting every 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8B093-5212-4C2C-BFE8-6BFC3B26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57425"/>
            <a:ext cx="10477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Find Python implementations even when the question uses different wording or includes structural and version constraints.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B8DDD-B0D9-480A-AEE9-62596088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Find by behavior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8BA1D-32D6-452F-AE26-C1570125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337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Compare query meaning with stored code embeddings and rank the strongest matches.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E254F-7893-41D6-B4B1-74E127DE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CAD147-FABB-4D33-8111-A70D2A81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A5BEA2-4FF6-4748-B928-A9B8E8F5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910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Trace imports, symbols and structural matches to the source code.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56E35-0404-4003-945F-370CBBB7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8CA6FB-E64B-46E6-A1ED-92B6FC49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Understand versions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1C51A1-A6DE-4D62-8B4A-8A2DEDF4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482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Retrieve stored versions and inspect their lineage.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05C95-5755-42C1-AA7E-68115B49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A3F2F-E16C-4585-9FE6-B776A2E4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912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Scope: Retrieval of existing Python code</a:t>
            </a:r>
          </a:p>
        </p:txBody>
      </p:sp>
    </p:spTree>
    <p:extLst>
      <p:ext uri="{BB962C8B-B14F-4D97-AF65-F5344CB8AC3E}">
        <p14:creationId xmlns:p14="http://schemas.microsoft.com/office/powerpoint/2010/main" val="18059502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983907-C198-4E49-B8EB-553F5FB0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Existing Solutions &amp; Gaps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762000" y="1809750"/>
          <a:ext xmlns:a="http://schemas.openxmlformats.org/drawingml/2006/main" cx="106680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3143250"/>
                <a:gridCol w="4810125"/>
              </a:tblGrid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Useful for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Gap addressed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Keyword search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Names and literal terms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Can miss paraphrased behavior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Dense retrieval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Natural-language intent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Does not enforce source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Single-version search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Current implementation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Does not show version relationships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98B155-EBA3-4FE8-B97F-FB658A65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41020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Our response: Select a retrieval strategy suited to the question.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258CF-EBEC-4133-BD01-7C22B0C1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62198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Conceptual comparison. No competitor benchmark is claimed.</a:t>
            </a:r>
          </a:p>
        </p:txBody>
      </p:sp>
    </p:spTree>
    <p:extLst>
      <p:ext uri="{BB962C8B-B14F-4D97-AF65-F5344CB8AC3E}">
        <p14:creationId xmlns:p14="http://schemas.microsoft.com/office/powerpoint/2010/main" val="3348693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F1FDED-2E90-4A3A-ACE0-6B3AEB9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Our Solutions &amp; Architecture Diagram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AAA29-7744-4465-AAD2-96EC49DF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33525"/>
            <a:ext cx="2381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User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ADBFB-8970-479C-BC4A-7FC950D6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533525"/>
            <a:ext cx="5715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FastAPI + rule-based router</a:t>
            </a:r>
          </a:p>
        </p:txBody>
      </p:sp>
      <p:cxnSp>
        <p:nvCxnSpPr>
          <p:cNvPr id="67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190875" y="18478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15168-60B3-4B73-9DEE-42A67D93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56210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One route per query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9B1EBD-AF06-49EF-8462-3C7F6C08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381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SEMANTIC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Search by 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E3BEB-802E-452A-BF0E-6BE239D9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EXACT USAGE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Imports and calls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5C740-124F-4B60-8DC4-D7EB6B66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STRUCTURAL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Code constraints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06567-2C93-4EBD-9090-CBD3A407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EVOLUTION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Git snapshots</a:t>
            </a:r>
          </a:p>
        </p:txBody>
      </p:sp>
      <p:cxnSp>
        <p:nvCxnSpPr>
          <p:cNvPr id="73" name=""/>
          <p:cNvCxnSpPr>
            <a:stCxn xmlns:a="http://schemas.openxmlformats.org/drawingml/2006/main" id="3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452688" y="2162175"/>
            <a:ext cx="4452938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3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5595938" y="2162175"/>
            <a:ext cx="1309688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3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905625" y="2162175"/>
            <a:ext cx="1166813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76" name=""/>
          <p:cNvCxnSpPr>
            <a:stCxn xmlns:a="http://schemas.openxmlformats.org/drawingml/2006/main" id="3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6905625" y="2162175"/>
            <a:ext cx="3643313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77970B-8E2F-4999-B7EC-23B4D608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71900"/>
            <a:ext cx="1657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Gemma 300M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65% weight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26A1D-0CD9-4878-8EF1-2D81B8C5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771900"/>
            <a:ext cx="1657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Qwen 0.6B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35% weight</a:t>
            </a:r>
          </a:p>
        </p:txBody>
      </p:sp>
      <p:cxnSp>
        <p:nvCxnSpPr>
          <p:cNvPr id="79" name=""/>
          <p:cNvCxnSpPr>
            <a:stCxn xmlns:a="http://schemas.openxmlformats.org/drawingml/2006/main" id="6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1590675" y="3409950"/>
            <a:ext cx="86201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80" name=""/>
          <p:cNvCxnSpPr>
            <a:stCxn xmlns:a="http://schemas.openxmlformats.org/drawingml/2006/main" id="6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2452688" y="3409950"/>
            <a:ext cx="90011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2F3A7-AF9E-4E7D-9B21-9631B7B2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3419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714CB0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Z-score then 65/35 fusion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Rank highest first</a:t>
            </a:r>
          </a:p>
        </p:txBody>
      </p:sp>
      <p:cxnSp>
        <p:nvCxnSpPr>
          <p:cNvPr id="82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1590675" y="4533900"/>
            <a:ext cx="88106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83" name=""/>
          <p:cNvCxnSpPr>
            <a:stCxn xmlns:a="http://schemas.openxmlformats.org/drawingml/2006/main" id="15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2471738" y="4533900"/>
            <a:ext cx="88106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BA8CE-8AA2-45F9-B3A0-DD653A61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AST usage index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Source-line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EBF358-5248-4008-9248-74FF3F4D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Scope-aware AST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Source ordering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DE29DE-7D4E-4AAD-9E5C-F87C8AE5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Gemma similarity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Commit / path lineage</a:t>
            </a:r>
          </a:p>
        </p:txBody>
      </p:sp>
      <p:cxnSp>
        <p:nvCxnSpPr>
          <p:cNvPr id="87" name=""/>
          <p:cNvCxnSpPr>
            <a:stCxn xmlns:a="http://schemas.openxmlformats.org/drawingml/2006/main" id="7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55959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88" name=""/>
          <p:cNvCxnSpPr>
            <a:stCxn xmlns:a="http://schemas.openxmlformats.org/drawingml/2006/main" id="8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80724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89" name=""/>
          <p:cNvCxnSpPr>
            <a:stCxn xmlns:a="http://schemas.openxmlformats.org/drawingml/2006/main" id="9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105489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BA9C06-16EF-459A-B520-E867989F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314950"/>
            <a:ext cx="7096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714CB0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Ranked source code + evidence + version context where applicable</a:t>
            </a:r>
          </a:p>
        </p:txBody>
      </p:sp>
      <p:cxnSp>
        <p:nvCxnSpPr>
          <p:cNvPr id="91" name=""/>
          <p:cNvCxnSpPr>
            <a:stCxn xmlns:a="http://schemas.openxmlformats.org/drawingml/2006/main" id="18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4181475" y="5267325"/>
            <a:ext cx="342900" cy="357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21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5595938" y="4838700"/>
            <a:ext cx="24765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22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8072438" y="483870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23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 flipH="1">
            <a:off x="8072438" y="4838700"/>
            <a:ext cx="24765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90A27D-8C13-4E3C-8966-F1FFD001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61912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Both models read the full query. Git scope: all versions, latest snapshot or selected commit.</a:t>
            </a:r>
          </a:p>
        </p:txBody>
      </p:sp>
    </p:spTree>
    <p:extLst>
      <p:ext uri="{BB962C8B-B14F-4D97-AF65-F5344CB8AC3E}">
        <p14:creationId xmlns:p14="http://schemas.microsoft.com/office/powerpoint/2010/main" val="3839055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2CD76-15EE-45EB-9A8C-D2BB6433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Demo &amp; Product Walkthrough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bd06eb5ad4649"/>
          <a:stretch xmlns:a="http://schemas.openxmlformats.org/drawingml/2006/main"/>
        </p:blipFill>
        <p:spPr>
          <a:xfrm xmlns:a="http://schemas.openxmlformats.org/drawingml/2006/main">
            <a:off x="762000" y="1381584"/>
            <a:ext cx="7096125" cy="495208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C8900-51DA-4640-A2B4-AF372F43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76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Four query types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02567-04BC-4924-88F0-A7B8D776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2860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A266F-D9D1-4BC9-BECD-5743E2A7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193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Find a relevant validator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4EB059-526B-496D-A90D-E62C7579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1242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Exact usage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3ECA4-7F24-470D-B568-47792771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575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Files importing collections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25D1D-6031-4832-960D-36085518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9624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Structural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6CED69-38F8-48BF-BAFC-A408B18D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2957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Range before 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3F4E2-E9FD-42C4-ABC6-5D45ED3F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8006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41C1E-6372-4A86-BEBA-A23838C1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1339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Actual Git / API history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8301E-B6A1-4B70-AF01-BD98A0BB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772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d4e57ce2eab84f44"/>
              </a:rPr>
              <a:t>Watch the demo — 4:49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612841-9274-49F8-AC67-8B1502BE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293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Current local UI · Actual Git history · 8,765-document code corpus</a:t>
            </a:r>
          </a:p>
        </p:txBody>
      </p:sp>
    </p:spTree>
    <p:extLst>
      <p:ext uri="{BB962C8B-B14F-4D97-AF65-F5344CB8AC3E}">
        <p14:creationId xmlns:p14="http://schemas.microsoft.com/office/powerpoint/2010/main" val="7772260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B2597-DF9A-4E80-965A-9C85F571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Tools and tech stack used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13443-891C-49D2-8B19-655B2557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43075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Application runtime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5A77C-DDA4-4AF1-AACF-09598D25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43075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Python 3.11, FastAPI / Uvicorn</a:t>
            </a:r>
          </a:p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HTML / CSS / JavaScript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D37C8-AEE8-4D5D-B565-4C989EDC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7451C-C946-4932-98A3-ECE96CAB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Retrieval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2A9E2-C651-4E92-8A8D-60D7AC47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57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PyTorch, SentenceTransformers / Transformers</a:t>
            </a:r>
          </a:p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EmbeddingGemma-300M + Qwen3-Embedding-0.6B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BA5CD-068B-406B-AA0C-79DD213D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952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C8E9E-82AB-4A57-A256-432D0BD4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Indexes and evaluation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A9FCE-E56D-4289-9771-CDA3DA67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Python AST, NumPy, datasets and MTEB</a:t>
            </a:r>
          </a:p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Precomputed embeddings, AST and bounded Git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6379DE-DD46-44D6-84E2-7EAF217E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FB47C0-A3D3-46E4-B19F-ADD8605B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Packaging and experiments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8B82F5-3A0D-47D6-8B8A-DD6705FB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863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Docker, GitHub Actions</a:t>
            </a:r>
          </a:p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Evaluated alternatives: BM25, adaptive fusion, reranking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182BF-A07C-4139-AA9B-99917D33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483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258264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A7BCB3-AB61-46AE-97AD-D18562BA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Impact &amp;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143F3-82D6-43C6-A025-591052BA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Code discovery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4F976-8710-4F0A-B213-F56F8EDC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859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Find existing implementations from a description of behavior.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06358-94D2-42AD-B328-36B26973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6B3AF-CB9E-447E-965C-51F0FD1F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Onboarding and inspection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EC2D7-2726-4358-87DD-B726663E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Inspect imports, calls and source evidence alongside each result.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7AB8F2-B051-4835-82D5-A3073BBE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1B8383-2341-4F9F-9EEE-FF5E2A0F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Version understanding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C3C180-C485-483A-AE1A-E1E38B3E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Inspect actual Git revisions by commit, path and snapshot.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A90D5-A43C-4B6D-99FC-B3D55B58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72361-66B6-4655-B579-BEAB1359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29275"/>
            <a:ext cx="1047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CPU operation with precomputed indexes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8CAE23-53E4-48CE-B7B5-4A587369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62675"/>
            <a:ext cx="1047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Intended benefits. Productivity gains are not measured. Model downloads and cold starts add setup time.</a:t>
            </a:r>
          </a:p>
        </p:txBody>
      </p:sp>
    </p:spTree>
    <p:extLst>
      <p:ext uri="{BB962C8B-B14F-4D97-AF65-F5344CB8AC3E}">
        <p14:creationId xmlns:p14="http://schemas.microsoft.com/office/powerpoint/2010/main" val="14434168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52F05-758A-465F-BE18-C2FB8BE8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Innovation highlights, results and 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C85321-0548-429C-A028-B44F79F1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4382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AppsRetrieval test: 3,765 queries / 8,765 documents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49F4F-9617-4BE0-B4BE-1BBE871B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NDCG@10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B2BC3-467B-4C6F-89D3-52BFDB68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0.853100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A0066-E9E6-4446-BD46-EF296134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MRR@10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59EE2-2ABD-4152-B9A5-47813B64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0.821803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0FFB3-A665-400D-ACD4-EDA68A71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Recall@100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23FF3-AEF5-4470-BE73-F5C5A5D3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0.993625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F8E1E-7C17-4D84-83D8-FF6D894B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0992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Frozen rankings, top 100 per query. Configured live corpus: 8,765 documents.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EDF07E-D65C-404E-9064-BD1FDECB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24275"/>
            <a:ext cx="10572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Private validation: 1,000 queries / 5,000 documents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62000" y="4200525"/>
          <a:ext xmlns:a="http://schemas.openxmlformats.org/drawingml/2006/main" cx="10668000" cy="1028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1905000"/>
                <a:gridCol w="1905000"/>
                <a:gridCol w="2238375"/>
                <a:gridCol w="2476500"/>
              </a:tblGrid>
              <a:tr h="514350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NDCG@10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Qwen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Gemma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Dual fusion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Fusion + reranker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514350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Validation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0.8215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0.8716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0.9177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0.9204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AE8DB-9C12-4BF5-8E04-A6A33B92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Dense fusion remains the default. Reranking did not improve test NDCG.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23508-52AE-4D58-A5F4-CBC51AEB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769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Limits: rule-based routing, Python scope and gated models. Metrics cover dense retrieval only.</a:t>
            </a:r>
          </a:p>
        </p:txBody>
      </p:sp>
    </p:spTree>
    <p:extLst>
      <p:ext uri="{BB962C8B-B14F-4D97-AF65-F5344CB8AC3E}">
        <p14:creationId xmlns:p14="http://schemas.microsoft.com/office/powerpoint/2010/main" val="11297042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C69BCA-4DA9-4A84-A1CF-5F83E17B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What’s next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A86C9-FA65-4DF1-AFFB-1A7DDB71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859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44FCB-832B-4AEB-9709-297F0F37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Broader code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D70E0-55BF-47B2-A2D3-1A5C0105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622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Extend beyond Python and evaluate larger repository histories.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FEFAA-5EB4-4DC8-B03E-1104B8FA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F3948-E249-47E6-BE86-1F8BE9F7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Retrieval evaluation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DC7CA-FF64-4A33-B530-B8EB6F6F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19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Evaluate routing and structural search on a separate held-out query set.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579928-72D4-42E9-A5FD-B0FA8881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126110-9619-4E39-B25D-1B5F2DDC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Fresh Windows setup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132733-8D1A-4B8D-BD76-96FBB878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768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Test model downloads and access setup from an empty Windows cache.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4EE004-2EF6-4AD3-886A-804227C3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817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8587753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85B091-040D-4254-95D9-7E563794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Brownie points slide (differentiation)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90514-4CE3-493A-A108-758D7C2C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Evidence-driven choices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5127D4-4F7D-4263-A132-EBA73D21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14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Compared retrieval variants and retained frozen dual fusion with reranking off by default.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25AEDD-1970-4143-9C13-E89222B6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08D04-A1E5-4F32-B425-ABBE10C8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CPU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80862-F1E4-40B6-913F-0CC03F3D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384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Precomputed indexes, lazy model loading and shared Gemma reuse.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C888E-680A-4B14-AC94-DE37F096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2DD5C8-46C8-4936-9CC1-B6F340B1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Inspectable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05273-B045-4FF4-97A2-4B206CED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624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Source-line evidence, real Git lineage and snapshot filters.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F5536-146B-448C-9DA5-4A74344F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7A931-785A-4D9C-8B2C-E344B704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34741-5CCA-4375-88EC-A8D1110B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863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Windows CPU: 23/23 tests and all four routes passed. Python 3.11; cached models.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CC3660-A27D-4C14-BB00-ECA22F04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377261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BD584-4280-486E-9E05-DADC6330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Checklist - Updated on Public GitHub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762000" y="1619250"/>
          <a:ext xmlns:a="http://schemas.openxmlformats.org/drawingml/2006/main" cx="10668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096000"/>
              </a:tblGrid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item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status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Source code + requirements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Source, requirements and verified runtime indexes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README + Docker setup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Setup, Docker and verification instructions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Presentation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Final presentation included in repository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Demo video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4:49 demo linked in README and presentation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AI disclosure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Signed disclosure included in DOCX and PDF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Final tag + result release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Required tag identifies the final submission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APK / SDK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Not applicable: browser-based Python app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A2F70-2C17-4144-B730-32CEBA3A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2927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Required tag: PRISM_GENAI_HACKATHON_Y2026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76FB8-F238-4B31-A0C5-BE167073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0077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Final submission package · Updated 4 October 2026</a:t>
            </a:r>
          </a:p>
        </p:txBody>
      </p:sp>
    </p:spTree>
    <p:extLst>
      <p:ext uri="{BB962C8B-B14F-4D97-AF65-F5344CB8AC3E}">
        <p14:creationId xmlns:p14="http://schemas.microsoft.com/office/powerpoint/2010/main" val="4904869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2E3AD-F9CE-4F63-8515-0250E847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191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PRISM Agentic Code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0938F7-AEB7-4183-B30D-9F1CE36A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76400"/>
            <a:ext cx="1047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Theme 1: Agentic Code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B0BC3-B2CC-4429-91BC-7D2B352E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098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SRM_Team Ctrl Alt Elite_1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1B834-D1F9-45D8-A412-6E975689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622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SRM Institute of Science and Technology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50D17-1975-41C6-87CD-45935346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5762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87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FD719F-5851-49A3-A4BD-AD11528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14350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af0dbb0a0524448f"/>
              </a:rPr>
              <a:t>View the public GitHub repository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949AD-CC03-41B0-AEFB-AE0CDD2A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292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4addf0c14e6a4291"/>
              </a:rPr>
              <a:t>Watch our 4:49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39B08D-3508-4E92-B4EE-E630C4D7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37222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Organised by the Language AI Team and the PRISM Team, Samsung R&amp;D Institute India</a:t>
            </a:r>
          </a:p>
        </p:txBody>
      </p:sp>
    </p:spTree>
    <p:extLst>
      <p:ext uri="{BB962C8B-B14F-4D97-AF65-F5344CB8AC3E}">
        <p14:creationId xmlns:p14="http://schemas.microsoft.com/office/powerpoint/2010/main" val="1959127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2026-10-04T07:14:37.0710000Z</dcterms:created>
  <dcterms:modified xsi:type="dcterms:W3CDTF">2026-10-04T07:14:37.0710000Z</dcterms:modified>
</coreProperties>
</file>