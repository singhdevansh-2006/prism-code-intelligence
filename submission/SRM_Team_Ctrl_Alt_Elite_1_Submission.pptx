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1a3bb0b67542fc" /><Relationship Type="http://schemas.openxmlformats.org/officeDocument/2006/relationships/extended-properties" Target="/docProps/app.xml" Id="Rf2edfe6e983143a2" /><Relationship Type="http://schemas.openxmlformats.org/officeDocument/2006/relationships/officeDocument" Target="/ppt/presentation.xml" Id="R145967143af047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af69056e374227"/>
  </p:sldMasterIdLst>
  <p:notesMasterIdLst>
    <p:notesMasterId xmlns:r="http://schemas.openxmlformats.org/officeDocument/2006/relationships" r:id="Rc7aa85ff024a4c49"/>
  </p:notesMasterIdLst>
  <p:sldIdLst>
    <p:sldId xmlns:r="http://schemas.openxmlformats.org/officeDocument/2006/relationships" id="256" r:id="Rfd3197d34a79489b"/>
    <p:sldId xmlns:r="http://schemas.openxmlformats.org/officeDocument/2006/relationships" id="257" r:id="R2c468d5e9db54984"/>
    <p:sldId xmlns:r="http://schemas.openxmlformats.org/officeDocument/2006/relationships" id="258" r:id="R9ae14a4d0af043c3"/>
    <p:sldId xmlns:r="http://schemas.openxmlformats.org/officeDocument/2006/relationships" id="259" r:id="R32f0db812a18468a"/>
    <p:sldId xmlns:r="http://schemas.openxmlformats.org/officeDocument/2006/relationships" id="260" r:id="R33d71c9891544154"/>
    <p:sldId xmlns:r="http://schemas.openxmlformats.org/officeDocument/2006/relationships" id="261" r:id="R1322275cae3142b7"/>
    <p:sldId xmlns:r="http://schemas.openxmlformats.org/officeDocument/2006/relationships" id="262" r:id="Rf66714ae924f4138"/>
    <p:sldId xmlns:r="http://schemas.openxmlformats.org/officeDocument/2006/relationships" id="263" r:id="Rb33a5325480a4b84"/>
    <p:sldId xmlns:r="http://schemas.openxmlformats.org/officeDocument/2006/relationships" id="264" r:id="Re5ba04c12f514c22"/>
    <p:sldId xmlns:r="http://schemas.openxmlformats.org/officeDocument/2006/relationships" id="265" r:id="Rda3d1e595d2c4b82"/>
    <p:sldId xmlns:r="http://schemas.openxmlformats.org/officeDocument/2006/relationships" id="266" r:id="R5f88f31eb66f425e"/>
    <p:sldId xmlns:r="http://schemas.openxmlformats.org/officeDocument/2006/relationships" id="267" r:id="R5d9c8c1a447e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3acb0baab5469e" /><Relationship Type="http://schemas.openxmlformats.org/officeDocument/2006/relationships/slideMaster" Target="/ppt/slideMasters/slideMaster1.xml" Id="R74af69056e374227" /><Relationship Type="http://schemas.openxmlformats.org/officeDocument/2006/relationships/notesMaster" Target="/ppt/notesMasters/notesMaster1.xml" Id="Rc7aa85ff024a4c49" /><Relationship Type="http://schemas.openxmlformats.org/officeDocument/2006/relationships/presProps" Target="/ppt/presProps.xml" Id="Rf52bf2fc80a34648" /><Relationship Type="http://schemas.openxmlformats.org/officeDocument/2006/relationships/tableStyles" Target="/ppt/tableStyles.xml" Id="R472ebd3d52dc4ae5" /><Relationship Type="http://schemas.openxmlformats.org/officeDocument/2006/relationships/slide" Target="/ppt/slides/slide1.xml" Id="Rfd3197d34a79489b" /><Relationship Type="http://schemas.openxmlformats.org/officeDocument/2006/relationships/slide" Target="/ppt/slides/slide2.xml" Id="R2c468d5e9db54984" /><Relationship Type="http://schemas.openxmlformats.org/officeDocument/2006/relationships/slide" Target="/ppt/slides/slide3.xml" Id="R9ae14a4d0af043c3" /><Relationship Type="http://schemas.openxmlformats.org/officeDocument/2006/relationships/slide" Target="/ppt/slides/slide4.xml" Id="R32f0db812a18468a" /><Relationship Type="http://schemas.openxmlformats.org/officeDocument/2006/relationships/slide" Target="/ppt/slides/slide5.xml" Id="R33d71c9891544154" /><Relationship Type="http://schemas.openxmlformats.org/officeDocument/2006/relationships/slide" Target="/ppt/slides/slide6.xml" Id="R1322275cae3142b7" /><Relationship Type="http://schemas.openxmlformats.org/officeDocument/2006/relationships/slide" Target="/ppt/slides/slide7.xml" Id="Rf66714ae924f4138" /><Relationship Type="http://schemas.openxmlformats.org/officeDocument/2006/relationships/slide" Target="/ppt/slides/slide8.xml" Id="Rb33a5325480a4b84" /><Relationship Type="http://schemas.openxmlformats.org/officeDocument/2006/relationships/slide" Target="/ppt/slides/slide9.xml" Id="Re5ba04c12f514c22" /><Relationship Type="http://schemas.openxmlformats.org/officeDocument/2006/relationships/slide" Target="/ppt/slides/slide10.xml" Id="Rda3d1e595d2c4b82" /><Relationship Type="http://schemas.openxmlformats.org/officeDocument/2006/relationships/slide" Target="/ppt/slides/slide11.xml" Id="R5f88f31eb66f425e" /><Relationship Type="http://schemas.openxmlformats.org/officeDocument/2006/relationships/slide" Target="/ppt/slides/slide12.xml" Id="R5d9c8c1a447e40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ccf2d4f8c344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af38856fa1416c" /><Relationship Type="http://schemas.openxmlformats.org/officeDocument/2006/relationships/notesMaster" Target="/ppt/notesMasters/notesMaster1.xml" Id="R8c7e85e1ed7d47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bde3b78cef4372" /><Relationship Type="http://schemas.openxmlformats.org/officeDocument/2006/relationships/notesMaster" Target="/ppt/notesMasters/notesMaster1.xml" Id="Reeafa715dfe34a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5b93ada97f494e" /><Relationship Type="http://schemas.openxmlformats.org/officeDocument/2006/relationships/notesMaster" Target="/ppt/notesMasters/notesMaster1.xml" Id="Rd27e020b02304f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d74a0c3be140ba" /><Relationship Type="http://schemas.openxmlformats.org/officeDocument/2006/relationships/notesMaster" Target="/ppt/notesMasters/notesMaster1.xml" Id="R34cc146693244b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e24825f6e2476b" /><Relationship Type="http://schemas.openxmlformats.org/officeDocument/2006/relationships/notesMaster" Target="/ppt/notesMasters/notesMaster1.xml" Id="R06d0a6782aa94b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3032c762ce4420" /><Relationship Type="http://schemas.openxmlformats.org/officeDocument/2006/relationships/notesMaster" Target="/ppt/notesMasters/notesMaster1.xml" Id="R2a0a658985634e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f3910ccf444c4a" /><Relationship Type="http://schemas.openxmlformats.org/officeDocument/2006/relationships/notesMaster" Target="/ppt/notesMasters/notesMaster1.xml" Id="R580b07726a0440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59421962fd4531" /><Relationship Type="http://schemas.openxmlformats.org/officeDocument/2006/relationships/notesMaster" Target="/ppt/notesMasters/notesMaster1.xml" Id="R0d3a5afa28bb41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9e04d245ac4730" /><Relationship Type="http://schemas.openxmlformats.org/officeDocument/2006/relationships/notesMaster" Target="/ppt/notesMasters/notesMaster1.xml" Id="R6ef91f5ac4694e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615a7273794ce9" /><Relationship Type="http://schemas.openxmlformats.org/officeDocument/2006/relationships/notesMaster" Target="/ppt/notesMasters/notesMaster1.xml" Id="R2d8583b0100247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53c666a192496d" /><Relationship Type="http://schemas.openxmlformats.org/officeDocument/2006/relationships/notesMaster" Target="/ppt/notesMasters/notesMaster1.xml" Id="R7b9555df68a645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e71763e2fc4882" /><Relationship Type="http://schemas.openxmlformats.org/officeDocument/2006/relationships/notesMaster" Target="/ppt/notesMasters/notesMaster1.xml" Id="R250f0d86293449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name formatted per final form: CollegeName_Teamname_ThemeNo. Team lead selected Team Ctrl Alt Elite; original registration spelling has not been independently confirmed. Members and emails supplied by the team lead.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problem: efficient relevant retrieval by behavior, usage, structure and versions. Precomputed embeddings avoid re-encoding the corpus per query. No measured developer-productivity gain claimed.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Revised third row to avoid assigning missing version context to history tools. These are conceptual differences, not empirical competitor results.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Semantic algorithm: normalized query vectors dotted with stored normalized document embeddings. Each model score distribution is z-normalized per query: z=(s-mean(s))/(std(s)+1e-8). Fusion F=0.65*zGemma+0.35*zQwen. NumPy argsort(-F) establishes ranking. Reranker disabled by default. Routes are alternatives, not a four-way fusion. Structural order is static, not runtime proof. Evolution uses a controlled synthetic fixture. Source: src/retriever.py, query_router.py, agentic_engine.py, versioned_retriever.py.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Video URL: https://drive.google.com/file/d/1Y7nbuiszgRgTFUJU7GKSjsI3tVVWGHv8/view?usp=sharing . Duration 3:30 reported by team lead. Drive landing page loads anonymously; full playback not independently reviewed. UI image extracted from supplied v4 PDF. Manual query in proposed script: which files import collections? Version history is a controlled fixture.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Default semantic weights: 65% Gemma, 35% Qwen. Optional mixedbread-ai/mxbai-rerank-xsmall-v1 is disabled by default. Global AST fusion was also evaluated; AST is routed for specific questions in final application. Exact dependency pins in requirements.txt.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CPU tests passed all four routes in earlier testing. User confirms Windows operation; precise Windows hardware, test scope and clean-cache model download procedure were not supplied. No quantified time-savings or performance guarantee.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test metrics from exact saved ranking order: NDCG@10 .853100; MRR@10 .821803; MRR@100 .824138; Recall@10 .949535; Recall@20 .973440; Recall@100 .993625. Saved rankings SHA256 519fe7b0ad8bb4ae80f1da5192ceea067bc1c68b74cad6328ee7ac8a2de644d4. MTEB export re-evaluates saved rankings using ordinal scores, not fresh end-to-end inference. Results do not measure AST, routing, evolution or runtime-demo accuracy. Private validation values are separate. Source: README, submission/, verify_submission.py. No benchmark score changed for this presentation.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 reports application runs on Windows. This does not establish all gated-model downloads from a fresh cache or full benchmark regeneration. Keep uncompleted work clearly separate from implemented features.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Linux CI run: https://github.com/SinghDevansh-2006/prism-code-intelligence/actions/runs/36049593708 . It covers CPU Docker build, startup/health, HTML and exact-usage/structural routes. It does not validate semantic/evolution gated-model downloads or fresh benchmark inference. Windows confirmation supplied by team lead on 30 September 2026.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 repository package includes the refined PPT, signed disclosure, demo link, setup instructions and evaluation artifacts. Release tag: PRISM_GENAI_HACKATHON_Y2026. Publication is verified as part of this delivery. The official submission form is a separate step.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members and contact emails on cover. Public repo and demo are active hyperlinks.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7937276ab540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ccd0a569cb480c" /><Relationship Type="http://schemas.openxmlformats.org/officeDocument/2006/relationships/slideLayout" Target="/ppt/slideLayouts/slideLayout1.xml" Id="R170b5cfe8a0347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b5cfe8a0347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5d0621c514729" /><Relationship Type="http://schemas.openxmlformats.org/officeDocument/2006/relationships/image" Target="/ppt/media/image.png" Id="R5deb84a1e4094311" /><Relationship Type="http://schemas.openxmlformats.org/officeDocument/2006/relationships/hyperlink" Target="https://github.com/SinghDevansh-2006/prism-code-intelligence" TargetMode="External" Id="Rd955d9e1a60247c6" /><Relationship Type="http://schemas.openxmlformats.org/officeDocument/2006/relationships/notesSlide" Target="/ppt/notesSlides/notesSlide1.xml" Id="R96fdbf3e458c47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d3cbbffe54d35" /><Relationship Type="http://schemas.openxmlformats.org/officeDocument/2006/relationships/notesSlide" Target="/ppt/notesSlides/notesSlide2.xml" Id="R79181a6f17ec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c023679194bb1" /><Relationship Type="http://schemas.openxmlformats.org/officeDocument/2006/relationships/notesSlide" Target="/ppt/notesSlides/notesSlide3.xml" Id="Rf58b9659d7734d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990ed25d74460" /><Relationship Type="http://schemas.openxmlformats.org/officeDocument/2006/relationships/notesSlide" Target="/ppt/notesSlides/notesSlide4.xml" Id="Rda0b5b58cba149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fa3037c8b40d4" /><Relationship Type="http://schemas.openxmlformats.org/officeDocument/2006/relationships/image" Target="/ppt/media/image2.png" Id="R7a95344b276c4480" /><Relationship Type="http://schemas.openxmlformats.org/officeDocument/2006/relationships/hyperlink" Target="https://drive.google.com/file/d/1Y7nbuiszgRgTFUJU7GKSjsI3tVVWGHv8/view?usp=sharing" TargetMode="External" Id="R048217fe858c4143" /><Relationship Type="http://schemas.openxmlformats.org/officeDocument/2006/relationships/notesSlide" Target="/ppt/notesSlides/notesSlide5.xml" Id="R30a871b1f5da48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cf7028c174ac9" /><Relationship Type="http://schemas.openxmlformats.org/officeDocument/2006/relationships/notesSlide" Target="/ppt/notesSlides/notesSlide6.xml" Id="R055e97bea60445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fcc976c3048c0" /><Relationship Type="http://schemas.openxmlformats.org/officeDocument/2006/relationships/notesSlide" Target="/ppt/notesSlides/notesSlide7.xml" Id="R64d907e8e38449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91ff20602449c" /><Relationship Type="http://schemas.openxmlformats.org/officeDocument/2006/relationships/notesSlide" Target="/ppt/notesSlides/notesSlide8.xml" Id="R2bf9a55ffc0540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96d8256ee34f02" /><Relationship Type="http://schemas.openxmlformats.org/officeDocument/2006/relationships/notesSlide" Target="/ppt/notesSlides/notesSlide9.xml" Id="Rea95141e7ae640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7cb160fa04981" /><Relationship Type="http://schemas.openxmlformats.org/officeDocument/2006/relationships/notesSlide" Target="/ppt/notesSlides/notesSlide10.xml" Id="Rdf6662c87e284a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b5b085b7b4aa2" /><Relationship Type="http://schemas.openxmlformats.org/officeDocument/2006/relationships/notesSlide" Target="/ppt/notesSlides/notesSlide11.xml" Id="R11b0bb07055e4f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947552c4648d5" /><Relationship Type="http://schemas.openxmlformats.org/officeDocument/2006/relationships/hyperlink" Target="https://github.com/SinghDevansh-2006/prism-code-intelligence" TargetMode="External" Id="Reb765a9e0f10431e" /><Relationship Type="http://schemas.openxmlformats.org/officeDocument/2006/relationships/hyperlink" Target="https://drive.google.com/file/d/1Y7nbuiszgRgTFUJU7GKSjsI3tVVWGHv8/view?usp=sharing" TargetMode="External" Id="R2b0bd60864f740a3" /><Relationship Type="http://schemas.openxmlformats.org/officeDocument/2006/relationships/notesSlide" Target="/ppt/notesSlides/notesSlide12.xml" Id="R0fc729feaeb54c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FCDF6-1B1F-4864-BADD-AF96326A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SAMSUNG PRISM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E6632-D02A-46D5-A0E8-76C95BF5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Generative AI Hackathon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CB6E9-D299-48B4-B182-47D1C3DC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1927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5E79"/>
                </a:solidFill>
                <a:latin typeface="Arial"/>
                <a:ea typeface="Arial"/>
                <a:cs typeface="Arial"/>
              </a:rPr>
              <a:t>3rd Edition 2026–27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4580D-2E8C-4992-8D85-50B252F0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43175"/>
            <a:ext cx="766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A38BA-8C13-4A5D-8511-3E141A9F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EC9FA-3A10-4ECB-A224-4F2405F2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FE3B4-92F2-4288-9209-398B6126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747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260A6-FEEC-4076-AEAD-7065577B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76775"/>
            <a:ext cx="80962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Devansh Singh (Team Lead)  ·  ds8467@srmist.edu.in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Sankalp Kumar  ·  sk4156@srmist.edu.in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Ved Kumar  ·  vk9977@srmist.edu.in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Shreel Singh  ·  ss9735@srmist.edu.in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b84a1e4094311"/>
          <a:stretch xmlns:a="http://schemas.openxmlformats.org/drawingml/2006/main"/>
        </p:blipFill>
        <p:spPr>
          <a:xfrm xmlns:a="http://schemas.openxmlformats.org/drawingml/2006/main">
            <a:off x="8572500" y="1859475"/>
            <a:ext cx="2905125" cy="296760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4790D-9AAF-461E-AA9D-587034AB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62675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d955d9e1a60247c6"/>
              </a:rPr>
              <a:t>Public GitHub repository</a:t>
            </a:r>
          </a:p>
        </p:txBody>
      </p:sp>
    </p:spTree>
    <p:extLst>
      <p:ext uri="{BB962C8B-B14F-4D97-AF65-F5344CB8AC3E}">
        <p14:creationId xmlns:p14="http://schemas.microsoft.com/office/powerpoint/2010/main" val="15314215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4184E-958E-47D2-998C-7B5EE8DC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Theme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B887EF-FC7D-4758-A557-9CA1CCEB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71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Relevant code without inspecting every 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5A44B-5863-4D09-8A0D-E3DFFD26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10477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Python implementations even when the question uses different wording or includes structural and version constraints.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2C689-778B-4DC3-ACDA-FDAAB3AB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Find by behavior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84221-AC9D-431C-9606-51C27526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 query meaning with stored code embeddings and rank the strongest matches.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3079E-E4AC-4BAB-855B-0BB3C9EF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DC1F3-99C7-422B-913D-A6EE38FB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B60E3-9C0C-47F2-A427-4C100203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Trace imports, symbols and structural matches to the source code.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9BCE7-4DE7-4D66-A496-284CC3E8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94D8E-9102-4C01-B8CF-800C7711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Understand versions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DB6E1-DFFB-45A3-A039-84F7E23D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48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Retrieve stored versions and inspect their lineage.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EB22F-92AF-4FDA-8096-47E85FD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0A4E8-9CE8-45FC-88E5-3E70C0BC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912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Scope: Retrieval of existing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924452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94BC4-2F98-4ED3-980C-453DC163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Existing Solutions &amp; Gaps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62000" y="1809750"/>
          <a:ext xmlns:a="http://schemas.openxmlformats.org/drawingml/2006/main" cx="10668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3143250"/>
                <a:gridCol w="4810125"/>
              </a:tblGrid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Useful for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Gap addressed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Keyword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Names and literal terms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Can miss paraphrased behavior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Dense retrieval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Natural-language intent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enforce source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Single-version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Current implementation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show version relationships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D4EF6-4AEE-42DF-9C8E-38197FFD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41020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response: Select a retrieval strategy suited to the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69A1E-0444-4634-8015-947E6DA1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2198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Conceptual comparison. No competitor benchmark is claimed.</a:t>
            </a:r>
          </a:p>
        </p:txBody>
      </p:sp>
    </p:spTree>
    <p:extLst>
      <p:ext uri="{BB962C8B-B14F-4D97-AF65-F5344CB8AC3E}">
        <p14:creationId xmlns:p14="http://schemas.microsoft.com/office/powerpoint/2010/main" val="2499718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48801-0A2C-4FBB-81E7-2116B84D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Solutions &amp; Architecture Diagram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88271-DFCF-408F-933C-58BB2248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335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User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617E9-5FFF-4691-916D-77D53FB5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533525"/>
            <a:ext cx="5715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FastAPI + rule-based router</a:t>
            </a:r>
          </a:p>
        </p:txBody>
      </p:sp>
      <p:cxnSp>
        <p:nvCxnSpPr>
          <p:cNvPr id="3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190875" y="18478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96D2D-B927-4AFF-8244-54C6C41D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6210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One route per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ADD15-FB24-4AE9-ADB0-BF560744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381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Search by 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A0D62-1CC8-45C5-B372-5A6A608C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Imports and calls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8D7A4-7137-49C8-8B9D-975BAE19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E1304-DBED-41FD-9C78-DBA7757D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Stored versions</a:t>
            </a:r>
          </a:p>
        </p:txBody>
      </p:sp>
      <p:cxnSp>
        <p:nvCxnSpPr>
          <p:cNvPr id="42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452688" y="2162175"/>
            <a:ext cx="445293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3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5595938" y="2162175"/>
            <a:ext cx="130968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3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905625" y="2162175"/>
            <a:ext cx="11668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3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905625" y="2162175"/>
            <a:ext cx="36433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937E0-6CC4-4DAC-A06D-F97782F3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300M</a:t>
            </a:r>
          </a:p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65% 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321960-5B43-4FC0-BC03-5EE20602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Qwen 0.6B</a:t>
            </a:r>
          </a:p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35% weight</a:t>
            </a:r>
          </a:p>
        </p:txBody>
      </p:sp>
      <p:cxnSp>
        <p:nvCxnSpPr>
          <p:cNvPr id="48" name=""/>
          <p:cNvCxnSpPr>
            <a:stCxn xmlns:a="http://schemas.openxmlformats.org/drawingml/2006/main" id="6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1590675" y="3409950"/>
            <a:ext cx="8620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2452688" y="3409950"/>
            <a:ext cx="9001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71A87-C54B-4EB0-B5FD-69EC4E00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3419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 and fuse scores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 highest first</a:t>
            </a:r>
          </a:p>
        </p:txBody>
      </p:sp>
      <p:cxnSp>
        <p:nvCxnSpPr>
          <p:cNvPr id="5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1590675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5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2471738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81514-2389-49A5-827A-F7E1A3F4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AST usage index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Source-line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016182-3DCA-427B-B8D7-C97C35BC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Scope-aware AST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 ordering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699E3D-55CF-4AEE-97B3-5F8EEEA5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similarity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Version lineage</a:t>
            </a:r>
          </a:p>
        </p:txBody>
      </p:sp>
      <p:cxnSp>
        <p:nvCxnSpPr>
          <p:cNvPr id="56" name=""/>
          <p:cNvCxnSpPr>
            <a:stCxn xmlns:a="http://schemas.openxmlformats.org/drawingml/2006/main" id="7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5595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7" name=""/>
          <p:cNvCxnSpPr>
            <a:stCxn xmlns:a="http://schemas.openxmlformats.org/drawingml/2006/main" id="8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80724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9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10548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F36E55-D997-43E2-BE95-8EBB423A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314950"/>
            <a:ext cx="7096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Ranked source code + evidence + version context where applicable</a:t>
            </a:r>
          </a:p>
        </p:txBody>
      </p:sp>
      <p:cxnSp>
        <p:nvCxnSpPr>
          <p:cNvPr id="60" name=""/>
          <p:cNvCxnSpPr>
            <a:stCxn xmlns:a="http://schemas.openxmlformats.org/drawingml/2006/main" id="18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4181475" y="5267325"/>
            <a:ext cx="342900" cy="357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21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55959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22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72438" y="483870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23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80724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13DD9A-E2F7-4891-AAF9-8DE108B8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Precomputed document embeddings support semantic search. Both models read the full query.</a:t>
            </a:r>
          </a:p>
        </p:txBody>
      </p:sp>
    </p:spTree>
    <p:extLst>
      <p:ext uri="{BB962C8B-B14F-4D97-AF65-F5344CB8AC3E}">
        <p14:creationId xmlns:p14="http://schemas.microsoft.com/office/powerpoint/2010/main" val="5202552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96987E-272C-41A0-B4EE-91CF2090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Demo &amp; Product Walkthrough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5344b276c4480"/>
          <a:stretch xmlns:a="http://schemas.openxmlformats.org/drawingml/2006/main"/>
        </p:blipFill>
        <p:spPr>
          <a:xfrm xmlns:a="http://schemas.openxmlformats.org/drawingml/2006/main">
            <a:off x="762000" y="1758555"/>
            <a:ext cx="7048500" cy="319801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A1E08-52AC-4566-AC7E-51FE0A77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76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Four query types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535AA-BEA2-45BD-B2EB-0E7E4361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860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2A337-E05C-4D33-8A1B-6B6F79DE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193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Tic-tac-toe 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246EC-2E23-4F92-BCA5-1ECD5473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1242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08F0AD-6F72-4CD1-A89B-D10C0641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575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Files importing collections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2B702-CA48-47AE-BC2C-583C8201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624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7EE5D9-DBE5-437D-A972-939A8FF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957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Range before 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07F24-93A2-4E37-8B90-B793C217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8006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A2D61-6286-49C7-84C9-58F148F0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1339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Binary-search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CDF34-1CCE-4A42-939E-3FAE45D0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048217fe858c4143"/>
              </a:rPr>
              <a:t>Watch the demo — 3:30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6452D-1D82-40F0-B487-F6341823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24550"/>
            <a:ext cx="6858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Select a result to inspect its source and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12417650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DAB7A2-6EFE-443F-8075-E0D5AD10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Tools and tech stack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53E3F-02C1-4FDF-8189-4F3C0318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4307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Application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3F96B8-A7AD-4FE9-B3E0-377E8404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4307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3.11, FastAPI / Uvicorn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HTML / CSS / JavaScript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80C2C-DF7F-43AC-96E4-A75D41A3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E6621-2D65-4BBB-871A-46B14F30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FF069-3CA9-49CE-B057-40D7B6F4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57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PyTorch, SentenceTransformers / Transformers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EmbeddingGemma-300M + Qwen3-Embedding-0.6B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CF767-8C51-4292-8728-02A32F3A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008AE7-4FA7-408A-8563-6A3ED8DA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Indexes and evaluation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07A7D-9631-49C6-8F0D-9A2F21BA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AST, NumPy, datasets and MTEB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embeddings and stored metadata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ED081-864D-4E83-9B7B-A106BC6C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B2773-8D48-4A31-8540-A5023F6B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Packaging and experiments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44DA14-3D01-4E6B-8E39-E130322E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Docker, GitHub Actions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Evaluated alternatives: BM25, adaptive fusion, reranking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7165D-D335-47C7-A3F6-7D55A25E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678295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96B6F-81AA-447A-82FB-544C1313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Impact &amp;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0A5ED-675D-47F1-9FC4-A80FD7E0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discovery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CB972-CBA0-4D5E-B405-8448A99F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existing implementations from a description of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92E7A-C1BE-4127-857D-6343CE7E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207C5-5774-4F12-8E96-84080C69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Onboarding and inspection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161F2-AE31-4719-89ED-7EDA4A6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Inspect imports, calls and source evidence alongside each result.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2AB8D-DEAB-4EF1-BBFC-DF433195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3FDCC-83FD-4CDD-86FF-1C3195A0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Version understanding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CE5CF-F033-4797-876F-9AF4E235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 stored implementations and inspect version lineage.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48E0D-BAF8-4636-8ACB-EEA08525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B4984-4E60-4AF0-B0CD-BB1182DF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1047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operation with precomputed indexes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7AEA1-59B4-411C-BA66-A7E3B25F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62675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Intended benefits. Productivity gains are not measured. Model downloads and cold starts add setup time.</a:t>
            </a:r>
          </a:p>
        </p:txBody>
      </p:sp>
    </p:spTree>
    <p:extLst>
      <p:ext uri="{BB962C8B-B14F-4D97-AF65-F5344CB8AC3E}">
        <p14:creationId xmlns:p14="http://schemas.microsoft.com/office/powerpoint/2010/main" val="17018423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3A2C25-7C41-4D5D-B307-815C1BE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Innovation highlights, results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DB383-8501-4E53-8A64-6FD95BE0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4382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AppsRetrieval test: 3,765 queries / 8,765 documents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F527B-1AB1-4AB8-BAA4-F4EBBAEF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NDCG@10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18550-6ABA-4135-B81B-C37C679B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0.853100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9695B-6EF0-4AD5-9567-DB35F48C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MRR@10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A1ADF-1336-40C0-A64D-62A1E6B3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0.821803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C47E6-9D4E-4F4D-B12B-D41A7D8C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Recall@100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3F0BD-491B-4AAA-A678-A319E488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0.993625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E8D55-1FFC-47D3-B091-4594221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09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Saved-ranking evaluation, top 100 per query. Live application index: 5,000 training documents.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41487-0D7A-42C4-8B07-EB82A03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24275"/>
            <a:ext cx="10572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Private validation: 1,000 queries / 5,000 documents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62000" y="4200525"/>
          <a:ext xmlns:a="http://schemas.openxmlformats.org/drawingml/2006/main" cx="106680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1905000"/>
                <a:gridCol w="1905000"/>
                <a:gridCol w="2238375"/>
                <a:gridCol w="2476500"/>
              </a:tblGrid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NDCG@10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Qwen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Gemma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Dual fusion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Fusion + reranker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0.8215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0.8716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0.9177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0.9204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BDB096-6997-490C-BE9F-EC404ED6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Dense fusion remains the default. Reranking did not improve test NDCG.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C20A5-7D83-47C3-82D0-3BD0D09D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769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Limits: rule-based routing, controlled version fixture and gated models. These scores measure dense retrieval only.</a:t>
            </a:r>
          </a:p>
        </p:txBody>
      </p:sp>
    </p:spTree>
    <p:extLst>
      <p:ext uri="{BB962C8B-B14F-4D97-AF65-F5344CB8AC3E}">
        <p14:creationId xmlns:p14="http://schemas.microsoft.com/office/powerpoint/2010/main" val="14520006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825D0-18DD-4E2D-8051-A51B9EB8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What’s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F3B9-99F2-4968-9B45-302FB938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859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7C279-C577-411E-935A-0EAA146F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Real repository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E0D68-AF17-424F-B9D1-82AE144C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622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Ingest actual Git history and extend beyond Python.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7F83B-F7B8-4F93-A8AD-BA394D6B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1F297-7113-4511-85AA-DCC75724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FD91B-0EFF-4B2B-A292-E7DC0D01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19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 routing and structural search on a separate held-out query set.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4615E-CC8E-4E2F-AC55-7D6F3706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6C9944-DB12-43C5-83B3-CED0FDA7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Reproducibility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50E52-212A-414E-9FA5-8D775F30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768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Document Windows hardware, environment and model-download steps for repeatable setup.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F4B656-79C5-42DB-8361-91A6A91F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81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014609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66603-C824-451E-AFE4-4EF716D3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Brownie points slide (differentiation)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FD191-13A4-435E-AE20-523EC9A7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Evidence-driven choices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43FC-32E8-4EB5-AAE0-E7DE49F5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Compared retrieval variants and retained frozen dual fusion with reranking off by default.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E3438-B040-46B7-B272-7354E966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DE0AF-E941-4AC9-8767-A3398F4F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E4B0F3-92AE-4383-876F-732FADC2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384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indexes, lazy model loading and shared Gemma reuse.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11D49-6F60-4E6D-AD9F-D0A2869B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8ED55-5923-4848-AED4-50EF51E6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Inspectable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8309FB-7171-4ECA-B795-D63BE76B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624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Source evidence and stored-version lineage.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AF41C-EC56-41F1-B0E4-EAC28CEE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E7992-51EB-4E62-8806-957AAB0F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777DE-757A-4DB8-AC45-91AFB0D3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Linux container CI passed. The team also confirms Windows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24EF0F-345B-4F45-9284-C8CF4B65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454079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023B3-9E2F-4E15-B256-8CA06D4D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Checklist - Updated on Public GitHub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10668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096000"/>
              </a:tblGrid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item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status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Source code + requirements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Present in public GitHub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README + Docker setup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Published with setup and submission links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Presentation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refined PPT published in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Demo video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3:30 demo linked in README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AI disclosure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Signed disclosure published in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tag + result release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Published with evaluation JSON assets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APK / SDK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Not applicable: browser-based Python app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AC847-2477-44B0-AA02-FA11D566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Required tag: PRISM_GENAI_HACKATHON_Y2026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FB48F-E4FC-4F24-803D-6E001923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Repository submission package complete: 30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8194665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60A3C-A25C-4455-B154-DDD3D989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191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8720B-5EA8-4579-BC1C-E90CF9EF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76400"/>
            <a:ext cx="1047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C2B3B-3BC4-443E-B650-B8BACD44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098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26718-F0AB-4C63-8BD9-B3208372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622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A9F02-AC70-401A-BF62-AF27DBCF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927D0D-0D98-436D-AB0F-D6B5C179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eb765a9e0f10431e"/>
              </a:rPr>
              <a:t>View the public GitHub repository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2B486-2AC9-4021-864B-60B5D17E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2b0bd60864f740a3"/>
              </a:rPr>
              <a:t>Watch our 3:30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920E7-469E-4075-A3B8-9BC15160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37222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Organised by the Language AI Team and the PRISM Team, Samsung R&amp;D Institute India</a:t>
            </a:r>
          </a:p>
        </p:txBody>
      </p:sp>
    </p:spTree>
    <p:extLst>
      <p:ext uri="{BB962C8B-B14F-4D97-AF65-F5344CB8AC3E}">
        <p14:creationId xmlns:p14="http://schemas.microsoft.com/office/powerpoint/2010/main" val="12733200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2026-09-30T09:23:54.4200000Z</dcterms:created>
  <dcterms:modified xsi:type="dcterms:W3CDTF">2026-09-30T09:23:54.4200000Z</dcterms:modified>
</coreProperties>
</file>