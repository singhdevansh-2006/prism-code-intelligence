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3fdf0710f14199" /><Relationship Type="http://schemas.openxmlformats.org/officeDocument/2006/relationships/extended-properties" Target="/docProps/app.xml" Id="R75cc4cb288604bf9" /><Relationship Type="http://schemas.openxmlformats.org/officeDocument/2006/relationships/officeDocument" Target="/ppt/presentation.xml" Id="R7429d2def2854f6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bfee2f295704558"/>
  </p:sldMasterIdLst>
  <p:notesMasterIdLst>
    <p:notesMasterId xmlns:r="http://schemas.openxmlformats.org/officeDocument/2006/relationships" r:id="R0031f81d85294ccc"/>
  </p:notesMasterIdLst>
  <p:sldIdLst>
    <p:sldId xmlns:r="http://schemas.openxmlformats.org/officeDocument/2006/relationships" id="256" r:id="R15c9bd34f12d463c"/>
    <p:sldId xmlns:r="http://schemas.openxmlformats.org/officeDocument/2006/relationships" id="257" r:id="R436a12759fd6437a"/>
    <p:sldId xmlns:r="http://schemas.openxmlformats.org/officeDocument/2006/relationships" id="258" r:id="R6b829dc952dd4630"/>
    <p:sldId xmlns:r="http://schemas.openxmlformats.org/officeDocument/2006/relationships" id="259" r:id="Rebeff2e04e5d482d"/>
    <p:sldId xmlns:r="http://schemas.openxmlformats.org/officeDocument/2006/relationships" id="260" r:id="R66ef8402df6a4411"/>
    <p:sldId xmlns:r="http://schemas.openxmlformats.org/officeDocument/2006/relationships" id="261" r:id="Rbb02419e3b824b81"/>
    <p:sldId xmlns:r="http://schemas.openxmlformats.org/officeDocument/2006/relationships" id="262" r:id="R544e5ca0155640db"/>
    <p:sldId xmlns:r="http://schemas.openxmlformats.org/officeDocument/2006/relationships" id="263" r:id="R0cbb73b2201e4cd2"/>
    <p:sldId xmlns:r="http://schemas.openxmlformats.org/officeDocument/2006/relationships" id="264" r:id="R108bd0c18a834e1c"/>
    <p:sldId xmlns:r="http://schemas.openxmlformats.org/officeDocument/2006/relationships" id="265" r:id="R2111477f6d504957"/>
    <p:sldId xmlns:r="http://schemas.openxmlformats.org/officeDocument/2006/relationships" id="266" r:id="R58e7f268e5564d72"/>
    <p:sldId xmlns:r="http://schemas.openxmlformats.org/officeDocument/2006/relationships" id="267" r:id="R2d6fbab0d7ef482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727254e4ac54ffc" /><Relationship Type="http://schemas.openxmlformats.org/officeDocument/2006/relationships/slideMaster" Target="/ppt/slideMasters/slideMaster1.xml" Id="R6bfee2f295704558" /><Relationship Type="http://schemas.openxmlformats.org/officeDocument/2006/relationships/notesMaster" Target="/ppt/notesMasters/notesMaster1.xml" Id="R0031f81d85294ccc" /><Relationship Type="http://schemas.openxmlformats.org/officeDocument/2006/relationships/presProps" Target="/ppt/presProps.xml" Id="R17ad5f3505de47b4" /><Relationship Type="http://schemas.openxmlformats.org/officeDocument/2006/relationships/tableStyles" Target="/ppt/tableStyles.xml" Id="R43b77f0e56384407" /><Relationship Type="http://schemas.openxmlformats.org/officeDocument/2006/relationships/slide" Target="/ppt/slides/slide1.xml" Id="R15c9bd34f12d463c" /><Relationship Type="http://schemas.openxmlformats.org/officeDocument/2006/relationships/slide" Target="/ppt/slides/slide2.xml" Id="R436a12759fd6437a" /><Relationship Type="http://schemas.openxmlformats.org/officeDocument/2006/relationships/slide" Target="/ppt/slides/slide3.xml" Id="R6b829dc952dd4630" /><Relationship Type="http://schemas.openxmlformats.org/officeDocument/2006/relationships/slide" Target="/ppt/slides/slide4.xml" Id="Rebeff2e04e5d482d" /><Relationship Type="http://schemas.openxmlformats.org/officeDocument/2006/relationships/slide" Target="/ppt/slides/slide5.xml" Id="R66ef8402df6a4411" /><Relationship Type="http://schemas.openxmlformats.org/officeDocument/2006/relationships/slide" Target="/ppt/slides/slide6.xml" Id="Rbb02419e3b824b81" /><Relationship Type="http://schemas.openxmlformats.org/officeDocument/2006/relationships/slide" Target="/ppt/slides/slide7.xml" Id="R544e5ca0155640db" /><Relationship Type="http://schemas.openxmlformats.org/officeDocument/2006/relationships/slide" Target="/ppt/slides/slide8.xml" Id="R0cbb73b2201e4cd2" /><Relationship Type="http://schemas.openxmlformats.org/officeDocument/2006/relationships/slide" Target="/ppt/slides/slide9.xml" Id="R108bd0c18a834e1c" /><Relationship Type="http://schemas.openxmlformats.org/officeDocument/2006/relationships/slide" Target="/ppt/slides/slide10.xml" Id="R2111477f6d504957" /><Relationship Type="http://schemas.openxmlformats.org/officeDocument/2006/relationships/slide" Target="/ppt/slides/slide11.xml" Id="R58e7f268e5564d72" /><Relationship Type="http://schemas.openxmlformats.org/officeDocument/2006/relationships/slide" Target="/ppt/slides/slide12.xml" Id="R2d6fbab0d7ef482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2cfda2708c48a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a44dc821aea4ad3" /><Relationship Type="http://schemas.openxmlformats.org/officeDocument/2006/relationships/notesMaster" Target="/ppt/notesMasters/notesMaster1.xml" Id="R78ce70f654fa40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c2927951464c09" /><Relationship Type="http://schemas.openxmlformats.org/officeDocument/2006/relationships/notesMaster" Target="/ppt/notesMasters/notesMaster1.xml" Id="R7592fcc07be248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0f984186934e61" /><Relationship Type="http://schemas.openxmlformats.org/officeDocument/2006/relationships/notesMaster" Target="/ppt/notesMasters/notesMaster1.xml" Id="R7d6ff11a65b0421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3ba5f71998c4308" /><Relationship Type="http://schemas.openxmlformats.org/officeDocument/2006/relationships/notesMaster" Target="/ppt/notesMasters/notesMaster1.xml" Id="R8c11ee43fbc5444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18ce7224eef4e1a" /><Relationship Type="http://schemas.openxmlformats.org/officeDocument/2006/relationships/notesMaster" Target="/ppt/notesMasters/notesMaster1.xml" Id="R70a45ed4e5e14d0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c566b40de77448a" /><Relationship Type="http://schemas.openxmlformats.org/officeDocument/2006/relationships/notesMaster" Target="/ppt/notesMasters/notesMaster1.xml" Id="Rc15d374204554c9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ee524a244674315" /><Relationship Type="http://schemas.openxmlformats.org/officeDocument/2006/relationships/notesMaster" Target="/ppt/notesMasters/notesMaster1.xml" Id="Raeeab78a2a91421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a54a4385fb482d" /><Relationship Type="http://schemas.openxmlformats.org/officeDocument/2006/relationships/notesMaster" Target="/ppt/notesMasters/notesMaster1.xml" Id="R3cd4ef2652c9445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f6fa0a8b884787" /><Relationship Type="http://schemas.openxmlformats.org/officeDocument/2006/relationships/notesMaster" Target="/ppt/notesMasters/notesMaster1.xml" Id="Rfc188c61c5f343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052eed11667407a" /><Relationship Type="http://schemas.openxmlformats.org/officeDocument/2006/relationships/notesMaster" Target="/ppt/notesMasters/notesMaster1.xml" Id="Rd303627695eb478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10d0f7f18e45b1" /><Relationship Type="http://schemas.openxmlformats.org/officeDocument/2006/relationships/notesMaster" Target="/ppt/notesMasters/notesMaster1.xml" Id="R7af2439590c04fd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c7a133c5a064ca7" /><Relationship Type="http://schemas.openxmlformats.org/officeDocument/2006/relationships/notesMaster" Target="/ppt/notesMasters/notesMaster1.xml" Id="R9087b53edf8a4f9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name formatted per final form: CollegeName_Teamname_ThemeNo. Team lead selected Team Ctrl Alt Elite; original registration spelling has not been independently confirmed. Members and emails supplied by the team lead.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 problem: efficient relevant retrieval by behavior, usage, structure and versions. Precomputed embeddings avoid re-encoding the corpus per query. No measured developer-productivity gain claimed.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Revised third row to avoid assigning missing version context to history tools. These are conceptual differences, not empirical competitor results.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Semantic algorithm: normalized query vectors dotted with stored normalized document embeddings. Each model score distribution is z-normalized per query: z=(s-mean(s))/(std(s)+1e-8). Fusion F=0.65*zGemma+0.35*zQwen. NumPy argsort(-F) establishes ranking. Reranker disabled by default. Routes are alternatives, not a four-way fusion. Structural order is static, not runtime proof. Evolution uses a controlled synthetic fixture. Source: src/retriever.py, query_router.py, agentic_engine.py, versioned_retriever.py.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Video URL: https://drive.google.com/file/d/1Y7nbuiszgRgTFUJU7GKSjsI3tVVWGHv8/view?usp=sharing . Duration 3:30 reported by team lead. Drive landing page loads anonymously; full playback not independently reviewed. UI screenshot supplied directly by the team lead at full resolution. Manual query in proposed script: which files import collections? Version history is a controlled fixture.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Default semantic weights: 65% Gemma, 35% Qwen. Optional mixedbread-ai/mxbai-rerank-xsmall-v1 is disabled by default. Global AST fusion was also evaluated; AST is routed for specific questions in final application. Exact dependency pins in requirements.txt.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Local CPU tests passed all four routes in earlier testing. User confirms Windows operation; precise Windows hardware, test scope and clean-cache model download procedure were not supplied. No quantified time-savings or performance guarantee.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Canonical test metrics from exact saved ranking order: NDCG@10 .853100; MRR@10 .821803; MRR@100 .824138; Recall@10 .949535; Recall@20 .973440; Recall@100 .993625. Saved rankings SHA256 519fe7b0ad8bb4ae80f1da5192ceea067bc1c68b74cad6328ee7ac8a2de644d4. MTEB export re-evaluates saved rankings using ordinal scores, not fresh end-to-end inference. Results do not measure AST, routing, evolution or runtime-demo accuracy. Private validation values are separate. Source: README, submission/, verify_submission.py. No benchmark score changed for this presentation.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User reports application runs on Windows. This does not establish all gated-model downloads from a fresh cache or full benchmark regeneration. Keep uncompleted work clearly separate from implemented features.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Linux CI run: https://github.com/SinghDevansh-2006/prism-code-intelligence/actions/runs/36049593708 . It covers CPU Docker build, startup/health, HTML and exact-usage/structural routes. It does not validate semantic/evolution gated-model downloads or fresh benchmark inference. Windows confirmation supplied by team lead on 30 September 2026.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Final repository package includes the refined PPT, signed disclosure, demo link, setup instructions and evaluation artifacts. Release tag: PRISM_GENAI_HACKATHON_Y2026. Publication is verified as part of this delivery. The official submission form is a separate step.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members and contact emails on cover. Public repo and demo are active hyperlinks.</a:t>
            </a:r>
          </a:p>
          <a:p xmlns:a="http://schemas.openxmlformats.org/drawingml/2006/main">
            <a:r>
              <a:t>Sources: https://github.com/SinghDevansh-2006/prism-code-intelligence/tree/030e29f6133f0ff0ea138243891c886fcff5a039; user-provided final submission form and team confirmations, 30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f56489f5a54ed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80e52b30e764c3e" /><Relationship Type="http://schemas.openxmlformats.org/officeDocument/2006/relationships/slideLayout" Target="/ppt/slideLayouts/slideLayout1.xml" Id="R44ba65dfb7b34c5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ba65dfb7b34c5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0a7092bf064699" /><Relationship Type="http://schemas.openxmlformats.org/officeDocument/2006/relationships/image" Target="/ppt/media/image.png" Id="Rf2d1595acdd9483b" /><Relationship Type="http://schemas.openxmlformats.org/officeDocument/2006/relationships/hyperlink" Target="https://github.com/SinghDevansh-2006/prism-code-intelligence" TargetMode="External" Id="R19582bebfc804d67" /><Relationship Type="http://schemas.openxmlformats.org/officeDocument/2006/relationships/notesSlide" Target="/ppt/notesSlides/notesSlide1.xml" Id="Rb920cae1ffce48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bcad7dad2746f6" /><Relationship Type="http://schemas.openxmlformats.org/officeDocument/2006/relationships/notesSlide" Target="/ppt/notesSlides/notesSlide2.xml" Id="R43a8290330d14f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aa1931b9104380" /><Relationship Type="http://schemas.openxmlformats.org/officeDocument/2006/relationships/notesSlide" Target="/ppt/notesSlides/notesSlide3.xml" Id="Rec8ea467580843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fbec8d023540b3" /><Relationship Type="http://schemas.openxmlformats.org/officeDocument/2006/relationships/notesSlide" Target="/ppt/notesSlides/notesSlide4.xml" Id="R2fb5bd7649e5484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4f655ed0414b84" /><Relationship Type="http://schemas.openxmlformats.org/officeDocument/2006/relationships/image" Target="/ppt/media/image2.png" Id="R3ebe87a0a2e043cb" /><Relationship Type="http://schemas.openxmlformats.org/officeDocument/2006/relationships/hyperlink" Target="https://drive.google.com/file/d/1Y7nbuiszgRgTFUJU7GKSjsI3tVVWGHv8/view?usp=sharing" TargetMode="External" Id="Rc7e0e929af6a4560" /><Relationship Type="http://schemas.openxmlformats.org/officeDocument/2006/relationships/notesSlide" Target="/ppt/notesSlides/notesSlide5.xml" Id="Rdcef7da766a34e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87604c6614a56" /><Relationship Type="http://schemas.openxmlformats.org/officeDocument/2006/relationships/notesSlide" Target="/ppt/notesSlides/notesSlide6.xml" Id="R26c5afdc84f74a2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68f132387847ee" /><Relationship Type="http://schemas.openxmlformats.org/officeDocument/2006/relationships/notesSlide" Target="/ppt/notesSlides/notesSlide7.xml" Id="Ra1a6070384b2495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2f9059e1574b14" /><Relationship Type="http://schemas.openxmlformats.org/officeDocument/2006/relationships/notesSlide" Target="/ppt/notesSlides/notesSlide8.xml" Id="R0c57fc62bfbd48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21406eee8e4e70" /><Relationship Type="http://schemas.openxmlformats.org/officeDocument/2006/relationships/notesSlide" Target="/ppt/notesSlides/notesSlide9.xml" Id="R51f7094259ed441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b3a5ff39e48a9" /><Relationship Type="http://schemas.openxmlformats.org/officeDocument/2006/relationships/notesSlide" Target="/ppt/notesSlides/notesSlide10.xml" Id="R31acf0d8b3ed44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e41912e7a44007" /><Relationship Type="http://schemas.openxmlformats.org/officeDocument/2006/relationships/notesSlide" Target="/ppt/notesSlides/notesSlide11.xml" Id="R09358c2a90214d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454e0d2c49463b" /><Relationship Type="http://schemas.openxmlformats.org/officeDocument/2006/relationships/hyperlink" Target="https://github.com/SinghDevansh-2006/prism-code-intelligence" TargetMode="External" Id="R4a631a7d9fe54808" /><Relationship Type="http://schemas.openxmlformats.org/officeDocument/2006/relationships/hyperlink" Target="https://drive.google.com/file/d/1Y7nbuiszgRgTFUJU7GKSjsI3tVVWGHv8/view?usp=sharing" TargetMode="External" Id="Rcb83ac9c518e4eda" /><Relationship Type="http://schemas.openxmlformats.org/officeDocument/2006/relationships/notesSlide" Target="/ppt/notesSlides/notesSlide12.xml" Id="R3762944badfa415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3FD59-8DE2-41C3-B3D7-1E047C16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SAMSUNG PRISM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27B746-2352-4DF6-A407-380840DA4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781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Generative AI Hackathon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F140E-7632-4E9A-A7CD-7855B857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19275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655E79"/>
                </a:solidFill>
                <a:latin typeface="Arial"/>
                <a:ea typeface="Arial"/>
                <a:cs typeface="Arial"/>
              </a:rPr>
              <a:t>3rd Edition 2026–27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222D60-5DF8-48B3-9867-20D794ED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43175"/>
            <a:ext cx="7667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PRISM Agentic Code Intelligence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DE58D2-CD5F-4553-B480-FF76A350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43250"/>
            <a:ext cx="752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Theme 1: Agentic Code Intelligence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8B5EDA-7F1D-4CF5-B56E-5D3770C5B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742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SRM_Team Ctrl Alt Elite_1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2755A9-3FD3-44A0-B5AF-3BB475D3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7477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SRM Institute of Science and Technology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83EB64-6557-4F39-B477-9FCB07BE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76775"/>
            <a:ext cx="8096250" cy="1247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Devansh Singh (Team Lead)  ·  ds8467@srmist.edu.in</a:t>
            </a:r>
          </a:p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Sankalp Kumar  ·  sk4156@srmist.edu.in</a:t>
            </a:r>
          </a:p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Ved Kumar  ·  vk9977@srmist.edu.in</a:t>
            </a:r>
          </a:p>
          <a:p xmlns:a="http://schemas.openxmlformats.org/drawingml/2006/main">
            <a:pPr>
              <a:defRPr sz="15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Shreel Singh  ·  ss9735@srmist.edu.in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1595acdd9483b"/>
          <a:stretch xmlns:a="http://schemas.openxmlformats.org/drawingml/2006/main"/>
        </p:blipFill>
        <p:spPr>
          <a:xfrm xmlns:a="http://schemas.openxmlformats.org/drawingml/2006/main">
            <a:off x="8572500" y="1859475"/>
            <a:ext cx="2905125" cy="296760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8E06B-5755-4C80-A0CF-46F26406A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62675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19582bebfc804d67"/>
              </a:rPr>
              <a:t>Public GitHub repository</a:t>
            </a:r>
          </a:p>
        </p:txBody>
      </p:sp>
    </p:spTree>
    <p:extLst>
      <p:ext uri="{BB962C8B-B14F-4D97-AF65-F5344CB8AC3E}">
        <p14:creationId xmlns:p14="http://schemas.microsoft.com/office/powerpoint/2010/main" val="12347253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E22B65-ADAF-40EC-BF08-E1099C7C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Theme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CBD482-8B64-4712-B442-C295D84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716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Relevant code without inspecting every 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48B093-5212-4C2C-BFE8-6BFC3B26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257425"/>
            <a:ext cx="10477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Find Python implementations even when the question uses different wording or includes structural and version constraints.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B8DDD-B0D9-480A-AEE9-62596088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Find by behavior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E8BA1D-32D6-452F-AE26-C1570125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337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 query meaning with stored code embeddings and rank the strongest matches.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AE254F-7893-41D6-B4B1-74E127DE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CAD147-FABB-4D33-8111-A70D2A811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Inspect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A5BEA2-4FF6-4748-B928-A9B8E8F5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910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Trace imports, symbols and structural matches to the source code.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356E35-0404-4003-945F-370CBBB7E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8CA6FB-E64B-46E6-A1ED-92B6FC49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482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Understand versions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1C51A1-A6DE-4D62-8B4A-8A2DEDF4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482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Retrieve stored versions and inspect their lineage.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605C95-5755-42C1-AA7E-68115B49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A3F2F-E16C-4585-9FE6-B776A2E4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191250"/>
            <a:ext cx="1047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Scope: Retrieval of existing Python code</a:t>
            </a:r>
          </a:p>
        </p:txBody>
      </p:sp>
    </p:spTree>
    <p:extLst>
      <p:ext uri="{BB962C8B-B14F-4D97-AF65-F5344CB8AC3E}">
        <p14:creationId xmlns:p14="http://schemas.microsoft.com/office/powerpoint/2010/main" val="180595020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983907-C198-4E49-B8EB-553F5FB0B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Existing Solutions &amp; Gaps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62000" y="1809750"/>
          <a:ext xmlns:a="http://schemas.openxmlformats.org/drawingml/2006/main" cx="106680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3143250"/>
                <a:gridCol w="4810125"/>
              </a:tblGrid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Approach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Useful for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Gap addressed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Keyword search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Names and literal terms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Can miss paraphrased behavior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Dense retrieval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Natural-language intent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Does not enforce source structure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Single-version search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Current implementation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Does not show version relationships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98B155-EBA3-4FE8-B97F-FB658A659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5410200"/>
            <a:ext cx="10572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Our response: Select a retrieval strategy suited to the question.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0258CF-EBEC-4133-BD01-7C22B0C1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6219825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Conceptual comparison. No competitor benchmark is claimed.</a:t>
            </a:r>
          </a:p>
        </p:txBody>
      </p:sp>
    </p:spTree>
    <p:extLst>
      <p:ext uri="{BB962C8B-B14F-4D97-AF65-F5344CB8AC3E}">
        <p14:creationId xmlns:p14="http://schemas.microsoft.com/office/powerpoint/2010/main" val="3348693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F1FDED-2E90-4A3A-ACE0-6B3AEB9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Our Solutions &amp; Architecture Diagram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AAA29-7744-4465-AAD2-96EC49DF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533525"/>
            <a:ext cx="238125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User question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ADBFB-8970-479C-BC4A-7FC950D6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533525"/>
            <a:ext cx="57150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FastAPI + rule-based router</a:t>
            </a:r>
          </a:p>
        </p:txBody>
      </p:sp>
      <p:cxnSp>
        <p:nvCxnSpPr>
          <p:cNvPr id="36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190875" y="1847850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15168-60B3-4B73-9DEE-42A67D931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56210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One route per query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9B1EBD-AF06-49EF-8462-3C7F6C08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3813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SEMANTIC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Search by meaning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DE3BEB-802E-452A-BF0E-6BE239D9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EXACT USAGE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Imports and calls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5C740-124F-4B60-8DC4-D7EB6B668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STRUCTURAL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Code constraints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06567-2C93-4EBD-9090-CBD3A407D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667000"/>
            <a:ext cx="214312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EVOLUTION</a:t>
            </a:r>
          </a:p>
          <a:p xmlns:a="http://schemas.openxmlformats.org/drawingml/2006/main">
            <a:pPr algn="ctr">
              <a:defRPr sz="16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Stored versions</a:t>
            </a:r>
          </a:p>
        </p:txBody>
      </p:sp>
      <p:cxnSp>
        <p:nvCxnSpPr>
          <p:cNvPr id="42" name=""/>
          <p:cNvCxnSpPr>
            <a:stCxn xmlns:a="http://schemas.openxmlformats.org/drawingml/2006/main" id="3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 flipH="1">
            <a:off x="2452688" y="2162175"/>
            <a:ext cx="4452938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3" name=""/>
          <p:cNvCxnSpPr>
            <a:stCxn xmlns:a="http://schemas.openxmlformats.org/drawingml/2006/main" id="3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5595938" y="2162175"/>
            <a:ext cx="1309688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4" name=""/>
          <p:cNvCxnSpPr>
            <a:stCxn xmlns:a="http://schemas.openxmlformats.org/drawingml/2006/main" id="3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6905625" y="2162175"/>
            <a:ext cx="1166813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5" name=""/>
          <p:cNvCxnSpPr>
            <a:stCxn xmlns:a="http://schemas.openxmlformats.org/drawingml/2006/main" id="3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6905625" y="2162175"/>
            <a:ext cx="3643313" cy="504825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77970B-8E2F-4999-B7EC-23B4D608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71900"/>
            <a:ext cx="1657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Gemma 300M</a:t>
            </a:r>
          </a:p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65% weight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26A1D-0CD9-4878-8EF1-2D81B8C5B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771900"/>
            <a:ext cx="16573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Qwen 0.6B</a:t>
            </a:r>
          </a:p>
          <a:p xmlns:a="http://schemas.openxmlformats.org/drawingml/2006/main">
            <a:pPr algn="ctr">
              <a:defRPr sz="14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35% weight</a:t>
            </a:r>
          </a:p>
        </p:txBody>
      </p:sp>
      <p:cxnSp>
        <p:nvCxnSpPr>
          <p:cNvPr id="48" name=""/>
          <p:cNvCxnSpPr>
            <a:stCxn xmlns:a="http://schemas.openxmlformats.org/drawingml/2006/main" id="6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1590675" y="3409950"/>
            <a:ext cx="86201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6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2452688" y="3409950"/>
            <a:ext cx="90011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82F3A7-AF9E-4E7D-9B21-9631B7B28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3419475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714CB0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Normalize and fuse scores</a:t>
            </a:r>
          </a:p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Rank highest first</a:t>
            </a:r>
          </a:p>
        </p:txBody>
      </p:sp>
      <p:cxnSp>
        <p:nvCxnSpPr>
          <p:cNvPr id="51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1590675" y="4533900"/>
            <a:ext cx="88106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52" name=""/>
          <p:cNvCxnSpPr>
            <a:stCxn xmlns:a="http://schemas.openxmlformats.org/drawingml/2006/main" id="15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 flipH="1">
            <a:off x="2471738" y="4533900"/>
            <a:ext cx="88106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ABA8CE-8AA2-45F9-B3A0-DD653A616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AST usage index</a:t>
            </a:r>
          </a:p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Source-line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EBF358-5248-4008-9248-74FF3F4DF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Scope-aware AST</a:t>
            </a:r>
          </a:p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Source ordering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DE29DE-7D4E-4AAD-9E5C-F87C8AE5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905250"/>
            <a:ext cx="2143125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1EBF9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Gemma similarity</a:t>
            </a:r>
          </a:p>
          <a:p xmlns:a="http://schemas.openxmlformats.org/drawingml/2006/main">
            <a:pPr algn="ctr">
              <a:defRPr sz="15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Version lineage</a:t>
            </a:r>
          </a:p>
        </p:txBody>
      </p:sp>
      <p:cxnSp>
        <p:nvCxnSpPr>
          <p:cNvPr id="56" name=""/>
          <p:cNvCxnSpPr>
            <a:stCxn xmlns:a="http://schemas.openxmlformats.org/drawingml/2006/main" id="7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55959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57" name=""/>
          <p:cNvCxnSpPr>
            <a:stCxn xmlns:a="http://schemas.openxmlformats.org/drawingml/2006/main" id="8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80724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58" name=""/>
          <p:cNvCxnSpPr>
            <a:stCxn xmlns:a="http://schemas.openxmlformats.org/drawingml/2006/main" id="9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10548938" y="3409950"/>
            <a:ext cx="0" cy="4953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6BA9C06-16EF-459A-B520-E867989F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5314950"/>
            <a:ext cx="7096125" cy="619125"/>
          </a:xfrm>
          <a:prstGeom xmlns:a="http://schemas.openxmlformats.org/drawingml/2006/main" prst="roundRect">
            <a:avLst>
              <a:gd name="adj" fmla="val 12308"/>
            </a:avLst>
          </a:prstGeom>
          <a:solidFill xmlns:a="http://schemas.openxmlformats.org/drawingml/2006/main">
            <a:srgbClr val="714CB0"/>
          </a:solidFill>
          <a:ln xmlns:a="http://schemas.openxmlformats.org/drawingml/2006/main" w="9525">
            <a:solidFill>
              <a:srgbClr val="DCD0EF"/>
            </a:solidFill>
          </a:ln>
        </p:spPr>
        <p:txBody>
          <a:bodyPr xmlns:a="http://schemas.openxmlformats.org/drawingml/2006/main" lIns="95250" tIns="47625" rIns="9525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Ranked source code + evidence + version context where applicable</a:t>
            </a:r>
          </a:p>
        </p:txBody>
      </p:sp>
      <p:cxnSp>
        <p:nvCxnSpPr>
          <p:cNvPr id="60" name=""/>
          <p:cNvCxnSpPr>
            <a:stCxn xmlns:a="http://schemas.openxmlformats.org/drawingml/2006/main" id="18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4181475" y="5267325"/>
            <a:ext cx="342900" cy="357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21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5595938" y="4838700"/>
            <a:ext cx="24765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62" name=""/>
          <p:cNvCxnSpPr>
            <a:stCxn xmlns:a="http://schemas.openxmlformats.org/drawingml/2006/main" id="22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8072438" y="4838700"/>
            <a:ext cx="0" cy="476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cxnSp>
        <p:nvCxnSpPr>
          <p:cNvPr id="63" name=""/>
          <p:cNvCxnSpPr>
            <a:stCxn xmlns:a="http://schemas.openxmlformats.org/drawingml/2006/main" id="23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 flipH="1">
            <a:off x="8072438" y="4838700"/>
            <a:ext cx="2476500" cy="476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29BD2"/>
            </a:solidFill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90A27D-8C13-4E3C-8966-F1FFD001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619125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Precomputed document embeddings support semantic search. Both models read the full query.</a:t>
            </a:r>
          </a:p>
        </p:txBody>
      </p:sp>
    </p:spTree>
    <p:extLst>
      <p:ext uri="{BB962C8B-B14F-4D97-AF65-F5344CB8AC3E}">
        <p14:creationId xmlns:p14="http://schemas.microsoft.com/office/powerpoint/2010/main" val="3839055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C2CD76-15EE-45EB-9A8C-D2BB6433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Demo &amp; Product Walkthrough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be87a0a2e043cb"/>
          <a:stretch xmlns:a="http://schemas.openxmlformats.org/drawingml/2006/main"/>
        </p:blipFill>
        <p:spPr>
          <a:xfrm xmlns:a="http://schemas.openxmlformats.org/drawingml/2006/main">
            <a:off x="1122866" y="1466850"/>
            <a:ext cx="6326768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C8900-51DA-4640-A2B4-AF372F43B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676400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Four query types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802567-04BC-4924-88F0-A7B8D776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2860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Semantic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7A266F-D9D1-4BC9-BECD-5743E2A7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193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Tic-tac-toe validation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4EB059-526B-496D-A90D-E62C7579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1242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Exact usage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23ECA4-7F24-470D-B568-477927711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575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Files importing collections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B25D1D-6031-4832-960D-360855184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9624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Structural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6CED69-38F8-48BF-BAFC-A408B18D6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2957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Range before print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3F4E2-E9FD-42C4-ABC6-5D45ED3F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800600"/>
            <a:ext cx="309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Evolution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41C1E-6372-4A86-BEBA-A23838C1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133975"/>
            <a:ext cx="31432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Binary-search history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88301E-B6A1-4B70-AF01-BD98A0BBD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721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c7e0e929af6a4560"/>
              </a:rPr>
              <a:t>Watch the demo — 3:30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612841-9274-49F8-AC67-8B1502BE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91250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Select a result to inspect its source and supporting evidence.</a:t>
            </a:r>
          </a:p>
        </p:txBody>
      </p:sp>
    </p:spTree>
    <p:extLst>
      <p:ext uri="{BB962C8B-B14F-4D97-AF65-F5344CB8AC3E}">
        <p14:creationId xmlns:p14="http://schemas.microsoft.com/office/powerpoint/2010/main" val="7772260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3B2597-DF9A-4E80-965A-9C85F5716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Tools and tech stack used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D13443-891C-49D2-8B19-655B2557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43075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Application runtime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5A77C-DDA4-4AF1-AACF-09598D25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43075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Python 3.11, FastAPI / Uvicorn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HTML / CSS / JavaScript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D37C8-AEE8-4D5D-B565-4C989EDC5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87451C-C946-4932-98A3-ECE96CAB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Retrieval runtime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22A9E2-C651-4E92-8A8D-60D7AC472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57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PyTorch, SentenceTransformers / Transformers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EmbeddingGemma-300M + Qwen3-Embedding-0.6B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BA5CD-068B-406B-AA0C-79DD213D8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952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4C8E9E-82AB-4A57-A256-432D0BD4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71925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Indexes and evaluation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BA9FCE-E56D-4289-9771-CDA3DA67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71925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Python AST, NumPy, datasets and MTEB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Precomputed embeddings and stored metadata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6379DE-DD46-44D6-84E2-7EAF217E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FB47C0-A3D3-46E4-B19F-ADD8605B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Packaging and experiments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8B82F5-3A0D-47D6-8B8A-DD6705FB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Docker, GitHub Actions</a:t>
            </a:r>
          </a:p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Evaluated alternatives: BM25, adaptive fusion, reranking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182BF-A07C-4139-AA9B-99917D33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48375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258264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A7BCB3-AB61-46AE-97AD-D18562BA5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Impact &amp;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143F3-82D6-43C6-A025-591052BA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859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Code discovery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4F976-8710-4F0A-B213-F56F8EDC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859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Find existing implementations from a description of behavior.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706358-94D2-42AD-B328-36B269734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337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26B3AF-CB9E-447E-965C-51F0FD1F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861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Onboarding and inspection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EC2D7-2726-4358-87DD-B726663E9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861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Inspect imports, calls and source evidence alongside each result.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7AB8F2-B051-4835-82D5-A3073BBE6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B8383-2341-4F9F-9EEE-FF5E2A0F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862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Version understanding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C3C180-C485-483A-AE1A-E1E38B3E4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 stored implementations and inspect version lineage.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A90D5-A43C-4B6D-99FC-B3D55B58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72361-66B6-4655-B579-BEAB13590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29275"/>
            <a:ext cx="10477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CPU operation with precomputed indexes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8CAE23-53E4-48CE-B7B5-4A587369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162675"/>
            <a:ext cx="104775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Intended benefits. Productivity gains are not measured. Model downloads and cold starts add setup time.</a:t>
            </a:r>
          </a:p>
        </p:txBody>
      </p:sp>
    </p:spTree>
    <p:extLst>
      <p:ext uri="{BB962C8B-B14F-4D97-AF65-F5344CB8AC3E}">
        <p14:creationId xmlns:p14="http://schemas.microsoft.com/office/powerpoint/2010/main" val="14434168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052F05-758A-465F-BE18-C2FB8BE8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Innovation highlights, results and limitations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C85321-0548-429C-A028-B44F79F10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438275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AppsRetrieval test: 3,765 queries / 8,765 documents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49F4F-9617-4BE0-B4BE-1BBE871B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NDCG@10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B2BC3-467B-4C6F-89D3-52BFDB68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0.853100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A0066-E9E6-4446-BD46-EF2961341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MRR@10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59EE2-2ABD-4152-B9A5-47813B64D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0.821803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60FFB3-A665-400D-ACD4-EDA68A71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0383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Recall@100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A23FF3-AEF5-4470-BE73-F5C5A5D3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2457450"/>
            <a:ext cx="314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0.993625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AF8E1E-7C17-4D84-83D8-FF6D894B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20992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Saved-ranking evaluation, top 100 per query. Live application index: 5,000 training documents.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EDF07E-D65C-404E-9064-BD1FDECB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24275"/>
            <a:ext cx="10572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Private validation: 1,000 queries / 5,000 documents</a:t>
            </a:r>
          </a:p>
        </p:txBody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762000" y="4200525"/>
          <a:ext xmlns:a="http://schemas.openxmlformats.org/drawingml/2006/main" cx="10668000" cy="1028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1905000"/>
                <a:gridCol w="1905000"/>
                <a:gridCol w="2238375"/>
                <a:gridCol w="2476500"/>
              </a:tblGrid>
              <a:tr h="514350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NDCG@10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Qwen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Gemma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Dual fusion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Fusion + reranker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514350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0.8215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0.8716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0.9177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0.9204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2AE8DB-9C12-4BF5-8E04-A6A33B92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4673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Dense fusion remains the default. Reranking did not improve test NDCG.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223508-52AE-4D58-A5F4-CBC51AEB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76950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Limits: rule-based routing, controlled version fixture and gated models. These scores measure dense retrieval only.</a:t>
            </a:r>
          </a:p>
        </p:txBody>
      </p:sp>
    </p:spTree>
    <p:extLst>
      <p:ext uri="{BB962C8B-B14F-4D97-AF65-F5344CB8AC3E}">
        <p14:creationId xmlns:p14="http://schemas.microsoft.com/office/powerpoint/2010/main" val="112970423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C69BCA-4DA9-4A84-A1CF-5F83E17B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What’s next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BA86C9-FA65-4DF1-AFFB-1A7DDB71C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485900"/>
            <a:ext cx="1047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F44FCB-832B-4AEB-9709-297F0F374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Real repository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D70E0-55BF-47B2-A2D3-1A5C0105C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3622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Ingest actual Git history and extend beyond Python.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AFEFAA-5EB4-4DC8-B03E-1104B8FA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F3948-E249-47E6-BE86-1F8BE9F7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19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Retrieval evaluation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CDC7CA-FF64-4A33-B530-B8EB6F6F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619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Evaluate routing and structural search on a separate held-out query set.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579928-72D4-42E9-A5FD-B0FA88818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126110-9619-4E39-B25D-1B5F2DDC8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768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Reproducibility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32733-8D1A-4B8D-BD76-96FBB878A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8768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Document Windows hardware, environment and model-download steps for repeatable setup.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4EE004-2EF6-4AD3-886A-804227C30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817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8587753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85B091-040D-4254-95D9-7E563794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Brownie points slide (differentiation)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90514-4CE3-493A-A108-758D7C2C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Evidence-driven choices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5127D4-4F7D-4263-A132-EBA73D219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145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Compared retrieval variants and retained frozen dual fusion with reranking off by default.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25AEDD-1970-4143-9C13-E89222B6B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08D04-A1E5-4F32-B425-ABBE10C8F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CPU execution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80862-F1E4-40B6-913F-0CC03F3D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384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Precomputed indexes, lazy model loading and shared Gemma reuse.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3C888E-680A-4B14-AC94-DE37F096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2DD5C8-46C8-4936-9CC1-B6F340B1E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Inspectable results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05273-B045-4FF4-97A2-4B206CED7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6240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Source evidence and stored-version lineage.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8F5536-146B-448C-9DA5-4A74344F8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A7A931-785A-4D9C-8B2C-E344B704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86350"/>
            <a:ext cx="290512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Verification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A34741-5CCA-4375-88EC-A8D1110B9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733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Linux container CI passed. The team also confirms Windows operation.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CC3660-A27D-4C14-BB00-ECA22F04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06680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D0EF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377261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BD584-4280-486E-9E05-DADC63301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43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Checklist - Updated on Public GitHub</a:t>
            </a:r>
          </a:p>
        </p:txBody>
      </p:sp>
      <p:graphicFrame>
        <p:nvGraphicFramePr>
          <p:cNvPr id="6" name=""/>
          <p:cNvGraphicFramePr/>
          <p:nvPr/>
        </p:nvGraphicFramePr>
        <p:xfrm>
          <a:off xmlns:a="http://schemas.openxmlformats.org/drawingml/2006/main" x="762000" y="1619250"/>
          <a:ext xmlns:a="http://schemas.openxmlformats.org/drawingml/2006/main" cx="106680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096000"/>
              </a:tblGrid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Required item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Current status</a:t>
                      </a:r>
                    </a:p>
                  </a:txBody>
                  <a:tcPr marL="91440" marR="91440" marT="45720" marB="45720">
                    <a:solidFill>
                      <a:srgbClr val="714CB0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Source code + requirements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Present in public GitHub repository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README + Docker setup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Published with setup and submission links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Presentation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Final refined PPT published in repository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Demo video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3:30 demo linked in README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AI disclosure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Signed disclosure published in repository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Final tag + result release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Published with evaluation JSON assets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0297"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APK / SDK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  <a:tc>
                  <a:txBody>
                    <a:bodyPr lIns="114300" tIns="95250" rIns="114300" bIns="76200"/>
                    <a:lstStyle/>
                    <a:p>
                      <a:r>
                        <a:rPr sz="1725" b="0">
                          <a:solidFill>
                            <a:srgbClr val="1A1830"/>
                          </a:solidFill>
                          <a:latin typeface="Arial"/>
                          <a:ea typeface="Arial"/>
                          <a:cs typeface="Arial"/>
                        </a:rPr>
                        <a:t>Not applicable: browser-based Python app</a:t>
                      </a:r>
                    </a:p>
                  </a:txBody>
                  <a:tcPr marL="91440" marR="91440" marT="45720" marB="45720">
                    <a:solidFill>
                      <a:srgbClr val="F1EBF9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2A2F70-2C17-4144-B730-32CEBA3A5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29275"/>
            <a:ext cx="10572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Required tag: PRISM_GENAI_HACKATHON_Y2026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F76FB8-F238-4B31-A0C5-BE167073B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200775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Repository submission package complete: 30 September 2026</a:t>
            </a:r>
          </a:p>
        </p:txBody>
      </p:sp>
    </p:spTree>
    <p:extLst>
      <p:ext uri="{BB962C8B-B14F-4D97-AF65-F5344CB8AC3E}">
        <p14:creationId xmlns:p14="http://schemas.microsoft.com/office/powerpoint/2010/main" val="49048690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52E3AD-F9CE-4F63-8515-0250E847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8191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PRISM Agentic Code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0938F7-AEB7-4183-B30D-9F1CE36A2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676400"/>
            <a:ext cx="10477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Theme 1: Agentic Code Intelligence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B0BC3-B2CC-4429-91BC-7D2B352E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409825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714CB0"/>
                </a:solidFill>
                <a:latin typeface="Arial"/>
                <a:ea typeface="Arial"/>
                <a:cs typeface="Arial"/>
              </a:rPr>
              <a:t>SRM_Team Ctrl Alt Elite_1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1B834-D1F9-45D8-A412-6E975689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62275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A1830"/>
                </a:solidFill>
                <a:latin typeface="Arial"/>
                <a:ea typeface="Arial"/>
                <a:cs typeface="Arial"/>
              </a:rPr>
              <a:t>SRM Institute of Science and Technology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50D17-1975-41C6-87CD-45935346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857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4875" b="1">
                <a:solidFill>
                  <a:srgbClr val="1A1830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A1830"/>
                </a:solidFill>
                <a:latin typeface="Arial"/>
                <a:ea typeface="Arial"/>
                <a:cs typeface="Arial"/>
              </a:rPr>
              <a:t>Thank you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FD719F-5851-49A3-A4BD-AD11528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14350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4a631a7d9fe54808"/>
              </a:rPr>
              <a:t>View the public GitHub repository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5949AD-CC03-41B0-AEFB-AE0CDD2A1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29275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714CB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714CB0"/>
                </a:solidFill>
                <a:latin typeface="Arial"/>
                <a:ea typeface="Arial"/>
                <a:cs typeface="Arial"/>
                <a:hlinkClick xmlns:r="http://schemas.openxmlformats.org/officeDocument/2006/relationships" r:id="Rcb83ac9c518e4eda"/>
              </a:rPr>
              <a:t>Watch our 3:30 demo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39B08D-3508-4E92-B4EE-E630C4D73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372225"/>
            <a:ext cx="10572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55E7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5E79"/>
                </a:solidFill>
                <a:latin typeface="Arial"/>
                <a:ea typeface="Arial"/>
                <a:cs typeface="Arial"/>
              </a:rPr>
              <a:t>Organised by the Language AI Team and the PRISM Team, Samsung R&amp;D Institute India</a:t>
            </a:r>
          </a:p>
        </p:txBody>
      </p:sp>
    </p:spTree>
    <p:extLst>
      <p:ext uri="{BB962C8B-B14F-4D97-AF65-F5344CB8AC3E}">
        <p14:creationId xmlns:p14="http://schemas.microsoft.com/office/powerpoint/2010/main" val="1959127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2026-09-30T14:14:18.9980000Z</dcterms:created>
  <dcterms:modified xsi:type="dcterms:W3CDTF">2026-09-30T14:14:18.9980000Z</dcterms:modified>
</coreProperties>
</file>